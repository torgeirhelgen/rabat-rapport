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side" id="{7d5b7913-cf0f-9494-f9cf-2ab16bb9a664}">
          <p14:sldIdLst>
            <p14:sldId id="256"/>
          </p14:sldIdLst>
        </p14:section>
        <p14:section name="Innhold" id="{7459469a-5c22-e1a8-16bf-1be9f584d8e8}">
          <p14:sldIdLst>
            <p14:sldId id="257"/>
          </p14:sldIdLst>
        </p14:section>
        <p14:section name="Nasjonal infrastruktur" id="{d669ad96-37f9-a5fd-8d61-74b4a5ad529c}">
          <p14:sldIdLst>
            <p14:sldId id="258"/>
            <p14:sldId id="259"/>
            <p14:sldId id="260"/>
            <p14:sldId id="261"/>
          </p14:sldIdLst>
        </p14:section>
        <p14:section name="Mohammed VI Football Complex" id="{9aa186db-0a01-557b-50ef-fdc9db1e5efd}">
          <p14:sldIdLst>
            <p14:sldId id="262"/>
            <p14:sldId id="263"/>
            <p14:sldId id="264"/>
          </p14:sldIdLst>
        </p14:section>
        <p14:section name="LNFP" id="{68c39f11-4fea-eaaf-41a8-dd035ad0ef50}">
          <p14:sldIdLst>
            <p14:sldId id="265"/>
            <p14:sldId id="266"/>
            <p14:sldId id="267"/>
            <p14:sldId id="268"/>
            <p14:sldId id="269"/>
            <p14:sldId id="270"/>
          </p14:sldIdLst>
        </p14:section>
        <p14:section name="Academie Mohammed VI de Football" id="{287ddc6d-d662-cf7d-4760-2ea99293a969}">
          <p14:sldIdLst>
            <p14:sldId id="271"/>
            <p14:sldId id="272"/>
            <p14:sldId id="273"/>
            <p14:sldId id="274"/>
            <p14:sldId id="275"/>
          </p14:sldIdLst>
        </p14:section>
        <p14:section name="Avslutning" id="{c9f87547-fcab-0f68-89a6-bab9a5ca2c31}">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Rabat Rapport – referanser fra marokkansk fotball. Rapporten tar for seg nasjonal infrastruktur, Mohammed VI Football Complex, ligaforeningen LNFP og Academie Mohammed VI de Football.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kapitler: nasjonal infrastruktur, det nasjonale anlegget, ligaforeningen LNFP og Mohammed VI-akademiet.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Fotballen i Marokko har base i Salé like utenfor hovedstaden Rabat. Like ved flyplassen ligger det nasjonale anlegget Mohammed VI Football Complex, oppkalt etter kongen, som ble åpnet i 2019. Linken mellom fotballforbundet (Fédération Royale Marocaine de Football) og staten er sterk. Byggingen av det nasjonale fotballanlegget var høyt prioritert i statsbudsjettet og den nåværende fotballpresidenten Fouzi Lekjaa, som har sittet siden 2014, ble nylig utnevnt som finansminister i regjeringen.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del av strategien til forbundet er å bygge 5 regionale sentre for spillerutvikling hvor spillerne bor og går på skole. Inntrykket vårt under besøket er at fire av disse er ferdigstilt og i drift, men ett av dem åpnet såpass nylig at de kun har kommet i gang med det yngste kullet. Det første og mest etablerte senteret ligger i Saïdia i nord-øst, på grensen til Algerie og på kysten mot Spania. Her har de kapasitet til å innlosjere drøyt 120 spillere.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På herresiden er det to profesjonelle ligaer med totalt 32 klubber organisert i en ligaforening tilsvarende NTF i Norge – ligaforeningen er riktignok en gren underlagt fotballforbundet. Klubbene må ha utviklingsavdeling for å ha lisens i ligaen, totalt er det snakk om 32 klubber med utviklingsavdeling, 5 regionale forbundssentre og selvstendige Academie Mohammed VI de Football som driver spillerutviklingen i landet. Begrepet academy brukes eksklusivt om det sistnevnte selvstendige akademiet, utviklingsavdelingene i klubbene ble beskrevet som training centers og youth categories. Mohammed VI-akademiet blir sett på som det beste miljøet i landet for spillerutvikling, mens RS Berkane er anerkjent som klubben med best utviklingsavdeling (førstnevnte anklager riktignok sistnevnte for å være veldig resultatorientert i ungdomsfotballen).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Forbundet har satt i gang tiltak for å løfte kvinnefotballen, men det fremstår som de er relativt tidlig i denne prosessen. Som en del av dette løftet har Marokko blitt tildelt U17-VM for jenter av FIFA 5 år på rad – som arrangeres på det nasjonale fotballanlegget. De regionale forbundssentrene tar inn både jenter og gutter, men det selvstendige Mohammed VI-akademiet er kun for gutter. I den øverste divisjonen for kvinner er topplagene de samme som de største klubbene på herresiden, men kun AS FAR fra Rabat (som ble seriemester for kvinner forrige sesong) blir anerkjent for å drive full skala spillerutvikling for jenter på samme nivå som på guttesiden.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kort kjøretur på ca 10 minutter fra flyplassen til hovedstaden ligger det nasjonale fotballanlegget. Her har forbundet sine kontorer, inkludert ligaforeningene som er underlagt forbundet. På anlegget er det også et eget bygg med FIFAs hovedkvarter i Afrika og CAF (Confédération Africaine de Football).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Anleggets fasiliteter inkluderer blant annet:
 Totalt 11 utendørsbaner: 7 naturgress, 2 hybrid og 2 kunstgress. Naturgressbanene skiftes mellom sommer- og vintergress hvert år.
 Fullskala innendørshall med 11-erbane og siste generasjon kunstgress.
 Eget område for A-landslaget herrer, med separat bygg, bane og svømmebasseng.
 Eget område med overnattingsfasiliteter og sportsskole for jenter.
 Egne bygg og funksjoner for analyse/data, rehabilitering/forskning og medisinsk støtte.
 Medisinsk anlegg med egen ambulanse og separat inngang.
 Egen ministadion for kamper, med gym og fire garderober tilrettelagt for turneringsaktivitet.
 Turneringsområde med 4 kampbaner med hver sin tribune og storskjerm der U17-VM arrangeres.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Bilder fra Mohammed VI Football Complex: inngangen, hovedbygget, en av utendørsbanene og treningsrommet med utsikt mot banene.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Marokko har to profesjonelle ligaer med 16 lag hver som drives av Ligue National de Football Professionnel (LNFP), resten av ligasystemet er amatørfotball. Ligaforeningen har 20 ansatte fordelt på 7 avdelinger, inkludert technical department med tre ansatte (de har også en referanse til en avdeling for utvikling av unge elitespillere). LNFP opplever at det kan være utfordrende med samarbeidsklima mellom klubbene, men avdelingene organiserer samlinger på tvers av klubbene innenfor sitt fagfelt.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Sluttabellen i Botola Pro 2025/26. Maghreb de Fès ble seriemester. Olympique Dcheira, US Yacoub El Mansour og Olympic Safi rykket ned. Rabat har fire klubber i ligaen: AS FAR, FUS Rabat, Union Touarga og US Yacoub El Mansour.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Marokko har to profesjonelle ligaer med 16 lag hver som drives av Ligue National de Football Professionnel (LNFP), resten av ligasystemet er amatørfotball. Ligaforeningen har 20 ansatte fordelt på 7 avdelinger, inkludert technical department med tre ansatte (de har også en referanse til en avdeling for utvikling av unge elitespillere). LNFP opplever at det kan være utfordrende med samarbeidsklima mellom klubbene, men avdelingene organiserer samlinger på tvers av klubbene innenfor sitt fagfelt.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siste to årene har LNFP jobbet med å utvikle en klassifisering for utviklingsavdelingene i klubbene, primært med Frankrike som inspirasjon og referanse. Klassifiseringen gjennomføres for første gang i år og består av et klubbesøk i hver klubb der et relativt overordnet kriteriesett brukes til å vurdere strukturene som er på plass for å drive spillerutvikling. Klubbene plasseres i en av fire kategorier etter poengsum: Excellence, Elite, Potentiel, Minimal. Klubbesøkene fordeles på fire personer: de tre ansatte i technical department og generalsekretær Khalid Mghafri som selv er sterkt involvert i daglig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LNFP organiserer også nasjonale serier på aldersbestemt for fem aldersgrupper: U15, U16, U17, U18 og U21. Totalt deltar 44 klubber/lag i de nasjonale seriene, dette inkluderer de 32 toppklubbene, de regionale forbundssentrene, Mohammed VI-akademiet og de beste amatørklubbene som har fått godkjent grunnleggende krav for egen utviklingsavdeling og kan stille lag på flere/alle aldersgrupper (altså ikke kun ett godt kull). Alle lag spiller 30 nasjonale kamper i året organisert av den profesjonelle ligaen – ukentlig spilles det 100 aldersbestemte nasjonale seriekamper i landet.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På spørsmål om hva han anser som suksesskriterier i Marokkansk fotball svarte generalsekretær Khalid Mghafri: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 selvstendig akademi utenfor forbundsstrukturen og uten eget A-lag, er Mohammed VI-akademiet (AMF) anerkjent som det beste utviklingsmiljøet for gutter i Marokko. I den nåværende landslagsgenerasjonen til Marokko er Nayef Aguerd, Youssef En-Nesyri, Azzedine Ounahi og reservekeeper Ahmed Tagnaouti fra AMF.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 selvstendig akademi utenfor forbundsstrukturen og uten eget A-lag, er Mohammed VI-akademiet (AMF) anerkjent som det beste utviklingsmiljøet for gutter i Marokko. I den nåværende landslagsgenerasjonen til Marokko er Nayef Aguerd, Youssef En-Nesyri, Azzedine Ounahi og reservekeeper Ahmed Tagnaouti fra AMF.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Omtrent 130 spillere i alderen 12-19 år bor på anlegget. De går på skole der og har alle sportslige og medisinske fasiliteter. Anlegget har 6 baner kun for akademiet, i tillegg til 3 baner som er åpne «løkkefotballbaner» med fri tilgang og en halv bane under tak.
I tillegg til de ~130 spillerne som bor på akademiet, organiserer AMF treninger for spillere i alderen 9-12 år på tolv ulike regionale sentre i hele Marokko med tre treninger i uka. Dette blir rekrutteringsgrunnlaget til akademiet. Akademiet bruker også de tre åpne løkkefotballbanene på anlegget sitt til treninger for barn i alderen 5 til 13 år. For disse treningene er det en treningsavgift på ca €300 i året som inkluderer utstyr.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Akademiet tar kun inn marokkanske spillere, men henter gjerne spillere som kan få marokkansk pass fra hele verden. De har spillere som har vokst opp i Europa så langt nord som Nederland i akademiet nå og inntrykket er at disse flytter dit allerede som 12-13 åringer. Spillere som rekrutteres inn blir i akademiet i minst 3 år. Det gir en viss kontinuitet, men de la ikke skjul på at det i stor grad skyldes FIFAs retningslinjer for klubbutviklede spillere, slik at alle som har blitt rekruttert inn til akademiet blir registrert som klubbutviklet der. Samtidig virket det ikke spesielt økonomisk motivert – mulig kong Mohammed VI dekker regninger ved behov.
Mesteparten av bemanningen i akademiet virket marokkanske, men Technical Director ser ut som en rolle de rekrutterer fra Europa. Tozé Pereira ble ansatt i den rollen i år og kom fra Braga i Portugal, hans forgjenger var fra Ajax.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Bilder fra Academie Mohammed VI de Football.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orsid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rs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pittel">
    <p:bg>
      <p:bgPr>
        <a:solidFill>
          <a:srgbClr val="1E0B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697480"/>
            <a:ext cx="4937760" cy="1783080"/>
          </a:xfrm>
          <a:prstGeom prst="rect">
            <a:avLst/>
          </a:prstGeom>
          <a:noFill/>
          <a:ln/>
        </p:spPr>
        <p:txBody>
          <a:bodyPr wrap="square" rtlCol="0"/>
          <a:lstStyle>
            <a:lvl1pPr algn="l" indent="0" marL="0">
              <a:buNone/>
              <a:defRPr lang="en-US" sz="4000" b="1" dirty="0">
                <a:solidFill>
                  <a:schemeClr val="bg1"/>
                </a:solidFill>
                <a:latin typeface="Aref Ruqaa" pitchFamily="34" charset="0"/>
                <a:ea typeface="Aref Ruqaa" pitchFamily="34" charset="-122"/>
                <a:cs typeface="Aref Ruqaa" pitchFamily="34" charset="-120"/>
              </a:defRPr>
            </a:lvl1pPr>
          </a:lstStyle>
          <a:p>
            <a:pPr algn="l" indent="0" marL="0">
              <a:buNone/>
            </a:pPr>
            <a:endParaRPr lang="en-US" sz="4000" dirty="0"/>
          </a:p>
        </p:txBody>
      </p:sp>
      <p:sp>
        <p:nvSpPr>
          <p:cNvPr id="3" name="Text 0"/>
          <p:cNvSpPr/>
          <p:nvPr>
            <p:ph idx="101" type="body" hasCustomPrompt="1"/>
          </p:nvPr>
        </p:nvSpPr>
        <p:spPr>
          <a:xfrm>
            <a:off x="685800" y="4754880"/>
            <a:ext cx="4572000" cy="1280160"/>
          </a:xfrm>
          <a:prstGeom prst="rect">
            <a:avLst/>
          </a:prstGeom>
          <a:noFill/>
          <a:ln/>
        </p:spPr>
        <p:txBody>
          <a:bodyPr wrap="square" rtlCol="0"/>
          <a:lstStyle>
            <a:lvl1pPr algn="l" indent="0" marL="0">
              <a:buNone/>
              <a:defRPr lang="en-US" sz="1600" dirty="0">
                <a:solidFill>
                  <a:schemeClr val="bg2"/>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tel">
    <p:bg>
      <p:bgPr>
        <a:solidFill>
          <a:srgbClr val="1E0B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rtlCol="0"/>
          <a:lstStyle>
            <a:lvl1pPr algn="l" indent="0" marL="0">
              <a:buNone/>
              <a:defRPr lang="en-US" sz="3200" b="1" dirty="0">
                <a:solidFill>
                  <a:schemeClr val="bg1"/>
                </a:solidFill>
                <a:latin typeface="Aref Ruqaa" pitchFamily="34" charset="0"/>
                <a:ea typeface="Aref Ruqaa" pitchFamily="34" charset="-122"/>
                <a:cs typeface="Aref Ruqaa" pitchFamily="34" charset="-120"/>
              </a:defRPr>
            </a:lvl1pPr>
          </a:lstStyle>
          <a:p>
            <a:pPr algn="l" indent="0" marL="0">
              <a:buNone/>
            </a:pPr>
            <a:endParaRPr lang="en-US" sz="3200" dirty="0"/>
          </a:p>
        </p:txBody>
      </p:sp>
      <p:sp>
        <p:nvSpPr>
          <p:cNvPr id="3" name="Text 0"/>
          <p:cNvSpPr txBox="1"/>
          <p:nvPr/>
        </p:nvSpPr>
        <p:spPr>
          <a:xfrm>
            <a:off x="685800" y="6355080"/>
            <a:ext cx="2194560" cy="274320"/>
          </a:xfrm>
          <a:prstGeom prst="rect">
            <a:avLst/>
          </a:prstGeom>
          <a:noFill/>
          <a:ln/>
        </p:spPr>
        <p:txBody>
          <a:bodyPr wrap="square" lIns="0" tIns="0" rIns="0" bIns="0" rtlCol="0" anchor="ctr"/>
          <a:lstStyle/>
          <a:p>
            <a:pPr indent="0" marL="0">
              <a:buNone/>
            </a:pPr>
            <a:r>
              <a:rPr lang="en-US" sz="1000" b="1" spc="200" kern="0" dirty="0">
                <a:solidFill>
                  <a:schemeClr val="bg2"/>
                </a:solidFill>
                <a:latin typeface="Aref Ruqaa" pitchFamily="34" charset="0"/>
                <a:ea typeface="Aref Ruqaa" pitchFamily="34" charset="-122"/>
                <a:cs typeface="Aref Ruqaa" pitchFamily="34" charset="-120"/>
              </a:rPr>
              <a:t>RABAT RAPPORT</a:t>
            </a:r>
            <a:endParaRPr lang="en-US" sz="10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5.jp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lobus" descr="Globus med linjer fra Marokko til Norge">    </p:cNvPr>
          <p:cNvPicPr>
            <a:picLocks noChangeAspect="1"/>
          </p:cNvPicPr>
          <p:nvPr/>
        </p:nvPicPr>
        <p:blipFill>
          <a:blip r:embed="rId1"/>
          <a:stretch>
            <a:fillRect/>
          </a:stretch>
        </p:blipFill>
        <p:spPr>
          <a:xfrm>
            <a:off x="0" y="0"/>
            <a:ext cx="12191695" cy="6858000"/>
          </a:xfrm>
          <a:prstGeom prst="rect">
            <a:avLst/>
          </a:prstGeom>
        </p:spPr>
      </p:pic>
      <p:pic>
        <p:nvPicPr>
          <p:cNvPr id="3" name="Flaggstjerne" descr="Stjernen fra Marokkos flagg">    </p:cNvPr>
          <p:cNvPicPr>
            <a:picLocks noChangeAspect="1"/>
          </p:cNvPicPr>
          <p:nvPr/>
        </p:nvPicPr>
        <p:blipFill>
          <a:blip r:embed="rId2"/>
          <a:stretch>
            <a:fillRect/>
          </a:stretch>
        </p:blipFill>
        <p:spPr>
          <a:xfrm>
            <a:off x="5684368" y="566928"/>
            <a:ext cx="822960" cy="783184"/>
          </a:xfrm>
          <a:prstGeom prst="rect">
            <a:avLst/>
          </a:prstGeom>
        </p:spPr>
      </p:pic>
      <p:sp>
        <p:nvSpPr>
          <p:cNvPr id="4" name="Tittel"/>
          <p:cNvSpPr txBox="1"/>
          <p:nvPr/>
        </p:nvSpPr>
        <p:spPr>
          <a:xfrm>
            <a:off x="1828800" y="1463040"/>
            <a:ext cx="8534095" cy="1783080"/>
          </a:xfrm>
          <a:prstGeom prst="rect">
            <a:avLst/>
          </a:prstGeom>
          <a:noFill/>
          <a:ln/>
        </p:spPr>
        <p:txBody>
          <a:bodyPr wrap="square" lIns="0" tIns="0" rIns="0" bIns="0" rtlCol="0" anchor="ctr"/>
          <a:lstStyle/>
          <a:p>
            <a:pPr algn="ctr" indent="0" marL="0">
              <a:lnSpc>
                <a:spcPct val="85000"/>
              </a:lnSpc>
              <a:buNone/>
            </a:pPr>
            <a:r>
              <a:rPr lang="en-US" sz="6600" b="1" spc="100" kern="0" dirty="0">
                <a:solidFill>
                  <a:srgbClr val="FFF8EE"/>
                </a:solidFill>
                <a:latin typeface="Aref Ruqaa" pitchFamily="34" charset="0"/>
                <a:ea typeface="Aref Ruqaa" pitchFamily="34" charset="-122"/>
                <a:cs typeface="Aref Ruqaa" pitchFamily="34" charset="-120"/>
              </a:rPr>
              <a:t>RABAT</a:t>
            </a:r>
            <a:endParaRPr lang="en-US" sz="6600" dirty="0"/>
          </a:p>
          <a:p>
            <a:pPr algn="ctr" indent="0" marL="0">
              <a:lnSpc>
                <a:spcPct val="85000"/>
              </a:lnSpc>
              <a:buNone/>
            </a:pPr>
            <a:r>
              <a:rPr lang="en-US" sz="5800" spc="100" kern="0" dirty="0">
                <a:solidFill>
                  <a:srgbClr val="FFF8EE"/>
                </a:solidFill>
                <a:latin typeface="Aref Ruqaa" pitchFamily="34" charset="0"/>
                <a:ea typeface="Aref Ruqaa" pitchFamily="34" charset="-122"/>
                <a:cs typeface="Aref Ruqaa" pitchFamily="34" charset="-120"/>
              </a:rPr>
              <a:t>RAPPORT</a:t>
            </a:r>
            <a:endParaRPr lang="en-US" sz="6600" dirty="0"/>
          </a:p>
        </p:txBody>
      </p:sp>
      <p:sp>
        <p:nvSpPr>
          <p:cNvPr id="5" name="Undertittel"/>
          <p:cNvSpPr txBox="1"/>
          <p:nvPr/>
        </p:nvSpPr>
        <p:spPr>
          <a:xfrm>
            <a:off x="1828800" y="3291840"/>
            <a:ext cx="8534095" cy="457200"/>
          </a:xfrm>
          <a:prstGeom prst="rect">
            <a:avLst/>
          </a:prstGeom>
          <a:noFill/>
          <a:ln/>
        </p:spPr>
        <p:txBody>
          <a:bodyPr wrap="square" lIns="0" tIns="0" rIns="0" bIns="0" rtlCol="0" anchor="ctr"/>
          <a:lstStyle/>
          <a:p>
            <a:pPr algn="ctr" indent="0" marL="0">
              <a:buNone/>
            </a:pPr>
            <a:r>
              <a:rPr lang="en-US" sz="2200" dirty="0">
                <a:solidFill>
                  <a:srgbClr val="FFF8EE">
                    <a:alpha val="82000"/>
                  </a:srgbClr>
                </a:solidFill>
                <a:latin typeface="Aref Ruqaa" pitchFamily="34" charset="0"/>
                <a:ea typeface="Aref Ruqaa" pitchFamily="34" charset="-122"/>
                <a:cs typeface="Aref Ruqaa" pitchFamily="34" charset="-120"/>
              </a:rPr>
              <a:t>Referanser fra marokkansk fotball</a:t>
            </a:r>
            <a:endParaRPr lang="en-US" sz="2200" dirty="0"/>
          </a:p>
        </p:txBody>
      </p:sp>
      <p:sp>
        <p:nvSpPr>
          <p:cNvPr id="6" name="Arabisk tekst"/>
          <p:cNvSpPr txBox="1"/>
          <p:nvPr/>
        </p:nvSpPr>
        <p:spPr>
          <a:xfrm>
            <a:off x="-914400" y="3931920"/>
            <a:ext cx="14020495" cy="502920"/>
          </a:xfrm>
          <a:prstGeom prst="rect">
            <a:avLst/>
          </a:prstGeom>
          <a:noFill/>
          <a:ln/>
        </p:spPr>
        <p:txBody>
          <a:bodyPr wrap="square" lIns="0" tIns="0" rIns="0" bIns="0" rtlCol="0" anchor="ctr"/>
          <a:lstStyle/>
          <a:p>
            <a:pPr rtl="1" algn="ctr" indent="0" marL="0">
              <a:buNone/>
            </a:pPr>
            <a:r>
              <a:rPr lang="ar-MA" altLang="en-US" sz="2200" dirty="0">
                <a:solidFill>
                  <a:srgbClr val="FFF8EE">
                    <a:alpha val="16000"/>
                  </a:srgbClr>
                </a:solidFill>
                <a:latin typeface="Aref Ruqaa" pitchFamily="34" charset="0"/>
                <a:ea typeface="Aref Ruqaa" pitchFamily="34" charset="-122"/>
                <a:cs typeface="Aref Ruqaa" pitchFamily="34" charset="-120"/>
              </a:rPr>
              <a:t>مراجع من كأس العالم للسيدات تحت 17 سنة، والمنشأة الوطنية لكرة القدم، واتحاد كرة القدم، والدوري الاحترافي، وأكبر أكاديمية في البلاد</a:t>
            </a:r>
            <a:endParaRPr lang="ar-M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Kart" descr="Kart over Marokko med forbundets sentre og klubbyene i Botola Pro">    </p:cNvPr>
          <p:cNvPicPr>
            <a:picLocks noChangeAspect="1"/>
          </p:cNvPicPr>
          <p:nvPr/>
        </p:nvPicPr>
        <p:blipFill>
          <a:blip r:embed="rId1"/>
          <a:stretch>
            <a:fillRect/>
          </a:stretch>
        </p:blipFill>
        <p:spPr>
          <a:xfrm>
            <a:off x="4632844" y="0"/>
            <a:ext cx="7558851" cy="6858000"/>
          </a:xfrm>
          <a:prstGeom prst="rect">
            <a:avLst/>
          </a:prstGeom>
        </p:spPr>
      </p:pic>
      <p:sp>
        <p:nvSpPr>
          <p:cNvPr id="3"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Innhold</a:t>
            </a:r>
            <a:endParaRPr lang="en-US" sz="3200" dirty="0"/>
          </a:p>
        </p:txBody>
      </p:sp>
      <p:pic>
        <p:nvPicPr>
          <p:cNvPr id="4" name="Stjerne" descr="Stjerne fra Marokkos flagg">    </p:cNvPr>
          <p:cNvPicPr>
            <a:picLocks noChangeAspect="1"/>
          </p:cNvPicPr>
          <p:nvPr/>
        </p:nvPicPr>
        <p:blipFill>
          <a:blip r:embed="rId2"/>
          <a:stretch>
            <a:fillRect/>
          </a:stretch>
        </p:blipFill>
        <p:spPr>
          <a:xfrm>
            <a:off x="685800" y="1636776"/>
            <a:ext cx="384048" cy="365486"/>
          </a:xfrm>
          <a:prstGeom prst="rect">
            <a:avLst/>
          </a:prstGeom>
        </p:spPr>
      </p:pic>
      <p:sp>
        <p:nvSpPr>
          <p:cNvPr id="5" name="Kapittel 1"/>
          <p:cNvSpPr txBox="1"/>
          <p:nvPr/>
        </p:nvSpPr>
        <p:spPr>
          <a:xfrm>
            <a:off x="1280160" y="1600200"/>
            <a:ext cx="5394960" cy="457200"/>
          </a:xfrm>
          <a:prstGeom prst="rect">
            <a:avLst/>
          </a:prstGeom>
          <a:noFill/>
          <a:ln/>
        </p:spPr>
        <p:txBody>
          <a:bodyPr wrap="square" lIns="0" tIns="0" rIns="0" bIns="0" rtlCol="0" anchor="t"/>
          <a:lstStyle/>
          <a:p>
            <a:pPr indent="0" marL="0">
              <a:buNone/>
            </a:pPr>
            <a:r>
              <a:rPr lang="en-US" sz="2000" dirty="0">
                <a:solidFill>
                  <a:schemeClr val="bg1"/>
                </a:solidFill>
                <a:latin typeface="Aref Ruqaa" pitchFamily="34" charset="0"/>
                <a:ea typeface="Aref Ruqaa" pitchFamily="34" charset="-122"/>
                <a:cs typeface="Aref Ruqaa" pitchFamily="34" charset="-120"/>
              </a:rPr>
              <a:t>Nasjonal infrastruktur for fotball</a:t>
            </a:r>
            <a:endParaRPr lang="en-US" sz="2000" dirty="0"/>
          </a:p>
        </p:txBody>
      </p:sp>
      <p:sp>
        <p:nvSpPr>
          <p:cNvPr id="6" name="Ingress 1"/>
          <p:cNvSpPr txBox="1"/>
          <p:nvPr/>
        </p:nvSpPr>
        <p:spPr>
          <a:xfrm>
            <a:off x="1280160" y="2057400"/>
            <a:ext cx="4572000" cy="457200"/>
          </a:xfrm>
          <a:prstGeom prst="rect">
            <a:avLst/>
          </a:prstGeom>
          <a:noFill/>
          <a:ln/>
        </p:spPr>
        <p:txBody>
          <a:bodyPr wrap="square" lIns="0" tIns="0" rIns="0" bIns="0" rtlCol="0" anchor="t"/>
          <a:lstStyle/>
          <a:p>
            <a:pPr indent="0" marL="0">
              <a:buNone/>
            </a:pPr>
            <a:r>
              <a:rPr lang="en-US" sz="1400" dirty="0">
                <a:solidFill>
                  <a:schemeClr val="bg2"/>
                </a:solidFill>
              </a:rPr>
              <a:t>Forbundet, staten og fem regionale sentre for spillerutvikling</a:t>
            </a:r>
            <a:endParaRPr lang="en-US" sz="1400" dirty="0"/>
          </a:p>
        </p:txBody>
      </p:sp>
      <p:sp>
        <p:nvSpPr>
          <p:cNvPr id="7" name="Skillelinje"/>
          <p:cNvSpPr/>
          <p:nvPr/>
        </p:nvSpPr>
        <p:spPr>
          <a:xfrm>
            <a:off x="685800" y="2578608"/>
            <a:ext cx="5440680" cy="0"/>
          </a:xfrm>
          <a:prstGeom prst="line">
            <a:avLst/>
          </a:prstGeom>
          <a:noFill/>
          <a:ln w="6350">
            <a:solidFill>
              <a:srgbClr val="CDBFB5">
                <a:alpha val="30000"/>
              </a:srgbClr>
            </a:solidFill>
            <a:prstDash val="solid"/>
          </a:ln>
        </p:spPr>
      </p:sp>
      <p:pic>
        <p:nvPicPr>
          <p:cNvPr id="8" name="Stjerne" descr="Stjerne fra Marokkos flagg">    </p:cNvPr>
          <p:cNvPicPr>
            <a:picLocks noChangeAspect="1"/>
          </p:cNvPicPr>
          <p:nvPr/>
        </p:nvPicPr>
        <p:blipFill>
          <a:blip r:embed="rId3"/>
          <a:stretch>
            <a:fillRect/>
          </a:stretch>
        </p:blipFill>
        <p:spPr>
          <a:xfrm>
            <a:off x="685800" y="2715768"/>
            <a:ext cx="384048" cy="365486"/>
          </a:xfrm>
          <a:prstGeom prst="rect">
            <a:avLst/>
          </a:prstGeom>
        </p:spPr>
      </p:pic>
      <p:sp>
        <p:nvSpPr>
          <p:cNvPr id="9" name="Kapittel 2"/>
          <p:cNvSpPr txBox="1"/>
          <p:nvPr/>
        </p:nvSpPr>
        <p:spPr>
          <a:xfrm>
            <a:off x="1280160" y="2679192"/>
            <a:ext cx="5394960" cy="457200"/>
          </a:xfrm>
          <a:prstGeom prst="rect">
            <a:avLst/>
          </a:prstGeom>
          <a:noFill/>
          <a:ln/>
        </p:spPr>
        <p:txBody>
          <a:bodyPr wrap="square" lIns="0" tIns="0" rIns="0" bIns="0" rtlCol="0" anchor="t"/>
          <a:lstStyle/>
          <a:p>
            <a:pPr indent="0" marL="0">
              <a:buNone/>
            </a:pPr>
            <a:r>
              <a:rPr lang="en-US" sz="2000" dirty="0">
                <a:solidFill>
                  <a:schemeClr val="bg1"/>
                </a:solidFill>
                <a:latin typeface="Aref Ruqaa" pitchFamily="34" charset="0"/>
                <a:ea typeface="Aref Ruqaa" pitchFamily="34" charset="-122"/>
                <a:cs typeface="Aref Ruqaa" pitchFamily="34" charset="-120"/>
              </a:rPr>
              <a:t>Mohammed VI Football Complex</a:t>
            </a:r>
            <a:endParaRPr lang="en-US" sz="2000" dirty="0"/>
          </a:p>
        </p:txBody>
      </p:sp>
      <p:sp>
        <p:nvSpPr>
          <p:cNvPr id="10" name="Ingress 2"/>
          <p:cNvSpPr txBox="1"/>
          <p:nvPr/>
        </p:nvSpPr>
        <p:spPr>
          <a:xfrm>
            <a:off x="1280160" y="3136392"/>
            <a:ext cx="4572000" cy="457200"/>
          </a:xfrm>
          <a:prstGeom prst="rect">
            <a:avLst/>
          </a:prstGeom>
          <a:noFill/>
          <a:ln/>
        </p:spPr>
        <p:txBody>
          <a:bodyPr wrap="square" lIns="0" tIns="0" rIns="0" bIns="0" rtlCol="0" anchor="t"/>
          <a:lstStyle/>
          <a:p>
            <a:pPr indent="0" marL="0">
              <a:buNone/>
            </a:pPr>
            <a:r>
              <a:rPr lang="en-US" sz="1400" dirty="0">
                <a:solidFill>
                  <a:schemeClr val="bg2"/>
                </a:solidFill>
              </a:rPr>
              <a:t>Det nasjonale anlegget i Salé, åpnet i 2019</a:t>
            </a:r>
            <a:endParaRPr lang="en-US" sz="1400" dirty="0"/>
          </a:p>
        </p:txBody>
      </p:sp>
      <p:sp>
        <p:nvSpPr>
          <p:cNvPr id="11" name="Skillelinje"/>
          <p:cNvSpPr/>
          <p:nvPr/>
        </p:nvSpPr>
        <p:spPr>
          <a:xfrm>
            <a:off x="685800" y="3657600"/>
            <a:ext cx="5440680" cy="0"/>
          </a:xfrm>
          <a:prstGeom prst="line">
            <a:avLst/>
          </a:prstGeom>
          <a:noFill/>
          <a:ln w="6350">
            <a:solidFill>
              <a:srgbClr val="CDBFB5">
                <a:alpha val="30000"/>
              </a:srgbClr>
            </a:solidFill>
            <a:prstDash val="solid"/>
          </a:ln>
        </p:spPr>
      </p:sp>
      <p:pic>
        <p:nvPicPr>
          <p:cNvPr id="12" name="Stjerne" descr="Stjerne fra Marokkos flagg">    </p:cNvPr>
          <p:cNvPicPr>
            <a:picLocks noChangeAspect="1"/>
          </p:cNvPicPr>
          <p:nvPr/>
        </p:nvPicPr>
        <p:blipFill>
          <a:blip r:embed="rId4"/>
          <a:stretch>
            <a:fillRect/>
          </a:stretch>
        </p:blipFill>
        <p:spPr>
          <a:xfrm>
            <a:off x="685800" y="3794760"/>
            <a:ext cx="384048" cy="365486"/>
          </a:xfrm>
          <a:prstGeom prst="rect">
            <a:avLst/>
          </a:prstGeom>
        </p:spPr>
      </p:pic>
      <p:sp>
        <p:nvSpPr>
          <p:cNvPr id="13" name="Kapittel 3"/>
          <p:cNvSpPr txBox="1"/>
          <p:nvPr/>
        </p:nvSpPr>
        <p:spPr>
          <a:xfrm>
            <a:off x="1280160" y="3758184"/>
            <a:ext cx="5394960" cy="457200"/>
          </a:xfrm>
          <a:prstGeom prst="rect">
            <a:avLst/>
          </a:prstGeom>
          <a:noFill/>
          <a:ln/>
        </p:spPr>
        <p:txBody>
          <a:bodyPr wrap="square" lIns="0" tIns="0" rIns="0" bIns="0" rtlCol="0" anchor="t"/>
          <a:lstStyle/>
          <a:p>
            <a:pPr indent="0" marL="0">
              <a:buNone/>
            </a:pPr>
            <a:r>
              <a:rPr lang="en-US" sz="2000" dirty="0">
                <a:solidFill>
                  <a:schemeClr val="bg1"/>
                </a:solidFill>
                <a:latin typeface="Aref Ruqaa" pitchFamily="34" charset="0"/>
                <a:ea typeface="Aref Ruqaa" pitchFamily="34" charset="-122"/>
                <a:cs typeface="Aref Ruqaa" pitchFamily="34" charset="-120"/>
              </a:rPr>
              <a:t>Ligue National de Football Professionnel</a:t>
            </a:r>
            <a:endParaRPr lang="en-US" sz="2000" dirty="0"/>
          </a:p>
        </p:txBody>
      </p:sp>
      <p:sp>
        <p:nvSpPr>
          <p:cNvPr id="14" name="Ingress 3"/>
          <p:cNvSpPr txBox="1"/>
          <p:nvPr/>
        </p:nvSpPr>
        <p:spPr>
          <a:xfrm>
            <a:off x="1280160" y="4215384"/>
            <a:ext cx="4572000" cy="457200"/>
          </a:xfrm>
          <a:prstGeom prst="rect">
            <a:avLst/>
          </a:prstGeom>
          <a:noFill/>
          <a:ln/>
        </p:spPr>
        <p:txBody>
          <a:bodyPr wrap="square" lIns="0" tIns="0" rIns="0" bIns="0" rtlCol="0" anchor="t"/>
          <a:lstStyle/>
          <a:p>
            <a:pPr indent="0" marL="0">
              <a:buNone/>
            </a:pPr>
            <a:r>
              <a:rPr lang="en-US" sz="1400" dirty="0">
                <a:solidFill>
                  <a:schemeClr val="bg2"/>
                </a:solidFill>
              </a:rPr>
              <a:t>Ligaforeningen, klassifisering og nasjonale aldersbestemte serier</a:t>
            </a:r>
            <a:endParaRPr lang="en-US" sz="1400" dirty="0"/>
          </a:p>
        </p:txBody>
      </p:sp>
      <p:sp>
        <p:nvSpPr>
          <p:cNvPr id="15" name="Skillelinje"/>
          <p:cNvSpPr/>
          <p:nvPr/>
        </p:nvSpPr>
        <p:spPr>
          <a:xfrm>
            <a:off x="685800" y="4736592"/>
            <a:ext cx="5440680" cy="0"/>
          </a:xfrm>
          <a:prstGeom prst="line">
            <a:avLst/>
          </a:prstGeom>
          <a:noFill/>
          <a:ln w="6350">
            <a:solidFill>
              <a:srgbClr val="CDBFB5">
                <a:alpha val="30000"/>
              </a:srgbClr>
            </a:solidFill>
            <a:prstDash val="solid"/>
          </a:ln>
        </p:spPr>
      </p:sp>
      <p:pic>
        <p:nvPicPr>
          <p:cNvPr id="16" name="Stjerne" descr="Stjerne fra Marokkos flagg">    </p:cNvPr>
          <p:cNvPicPr>
            <a:picLocks noChangeAspect="1"/>
          </p:cNvPicPr>
          <p:nvPr/>
        </p:nvPicPr>
        <p:blipFill>
          <a:blip r:embed="rId5"/>
          <a:stretch>
            <a:fillRect/>
          </a:stretch>
        </p:blipFill>
        <p:spPr>
          <a:xfrm>
            <a:off x="685800" y="4873752"/>
            <a:ext cx="384048" cy="365486"/>
          </a:xfrm>
          <a:prstGeom prst="rect">
            <a:avLst/>
          </a:prstGeom>
        </p:spPr>
      </p:pic>
      <p:sp>
        <p:nvSpPr>
          <p:cNvPr id="17" name="Kapittel 4"/>
          <p:cNvSpPr txBox="1"/>
          <p:nvPr/>
        </p:nvSpPr>
        <p:spPr>
          <a:xfrm>
            <a:off x="1280160" y="4837176"/>
            <a:ext cx="5394960" cy="457200"/>
          </a:xfrm>
          <a:prstGeom prst="rect">
            <a:avLst/>
          </a:prstGeom>
          <a:noFill/>
          <a:ln/>
        </p:spPr>
        <p:txBody>
          <a:bodyPr wrap="square" lIns="0" tIns="0" rIns="0" bIns="0" rtlCol="0" anchor="t"/>
          <a:lstStyle/>
          <a:p>
            <a:pPr indent="0" marL="0">
              <a:buNone/>
            </a:pPr>
            <a:r>
              <a:rPr lang="en-US" sz="2000" dirty="0">
                <a:solidFill>
                  <a:schemeClr val="bg1"/>
                </a:solidFill>
                <a:latin typeface="Aref Ruqaa" pitchFamily="34" charset="0"/>
                <a:ea typeface="Aref Ruqaa" pitchFamily="34" charset="-122"/>
                <a:cs typeface="Aref Ruqaa" pitchFamily="34" charset="-120"/>
              </a:rPr>
              <a:t>Academie Mohammed VI de Football</a:t>
            </a:r>
            <a:endParaRPr lang="en-US" sz="2000" dirty="0"/>
          </a:p>
        </p:txBody>
      </p:sp>
      <p:sp>
        <p:nvSpPr>
          <p:cNvPr id="18" name="Ingress 4"/>
          <p:cNvSpPr txBox="1"/>
          <p:nvPr/>
        </p:nvSpPr>
        <p:spPr>
          <a:xfrm>
            <a:off x="1280160" y="5294376"/>
            <a:ext cx="4572000" cy="457200"/>
          </a:xfrm>
          <a:prstGeom prst="rect">
            <a:avLst/>
          </a:prstGeom>
          <a:noFill/>
          <a:ln/>
        </p:spPr>
        <p:txBody>
          <a:bodyPr wrap="square" lIns="0" tIns="0" rIns="0" bIns="0" rtlCol="0" anchor="t"/>
          <a:lstStyle/>
          <a:p>
            <a:pPr indent="0" marL="0">
              <a:buNone/>
            </a:pPr>
            <a:r>
              <a:rPr lang="en-US" sz="1400" dirty="0">
                <a:solidFill>
                  <a:schemeClr val="bg2"/>
                </a:solidFill>
              </a:rPr>
              <a:t>Landets beste utviklingsmiljø for gutter</a:t>
            </a:r>
            <a:endParaRPr lang="en-US" sz="14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Kart" descr="Kart over Marokko med det nasjonale anlegget i Salé og fem regionale sentre">    </p:cNvPr>
          <p:cNvPicPr>
            <a:picLocks noChangeAspect="1"/>
          </p:cNvPicPr>
          <p:nvPr/>
        </p:nvPicPr>
        <p:blipFill>
          <a:blip r:embed="rId1"/>
          <a:stretch>
            <a:fillRect/>
          </a:stretch>
        </p:blipFill>
        <p:spPr>
          <a:xfrm>
            <a:off x="4632844" y="0"/>
            <a:ext cx="7558851" cy="6858000"/>
          </a:xfrm>
          <a:prstGeom prst="rect">
            <a:avLst/>
          </a:prstGeom>
        </p:spPr>
      </p:pic>
      <p:pic>
        <p:nvPicPr>
          <p:cNvPr id="3" name="Stjerne" descr="Stjerne fra Marokkos flagg">    </p:cNvPr>
          <p:cNvPicPr>
            <a:picLocks noChangeAspect="1"/>
          </p:cNvPicPr>
          <p:nvPr/>
        </p:nvPicPr>
        <p:blipFill>
          <a:blip r:embed="rId2"/>
          <a:stretch>
            <a:fillRect/>
          </a:stretch>
        </p:blipFill>
        <p:spPr>
          <a:xfrm>
            <a:off x="685800" y="1783080"/>
            <a:ext cx="566928" cy="539526"/>
          </a:xfrm>
          <a:prstGeom prst="rect">
            <a:avLst/>
          </a:prstGeom>
        </p:spPr>
      </p:pic>
      <p:sp>
        <p:nvSpPr>
          <p:cNvPr id="4" name="Text 0"/>
          <p:cNvSpPr/>
          <p:nvPr>
            <p:ph idx="100" type="title" hasCustomPrompt="1"/>
          </p:nvPr>
        </p:nvSpPr>
        <p:spPr>
          <a:xfrm>
            <a:off x="685800" y="2697480"/>
            <a:ext cx="49377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Aref Ruqaa" pitchFamily="34" charset="0"/>
                <a:ea typeface="Aref Ruqaa" pitchFamily="34" charset="-122"/>
                <a:cs typeface="Aref Ruqaa" pitchFamily="34" charset="-120"/>
              </a:rPr>
              <a:t>Nasjonal infrastruktur for fotball</a:t>
            </a:r>
            <a:endParaRPr lang="en-US" sz="4000" dirty="0"/>
          </a:p>
        </p:txBody>
      </p:sp>
      <p:sp>
        <p:nvSpPr>
          <p:cNvPr id="5" name="Text 0"/>
          <p:cNvSpPr/>
          <p:nvPr>
            <p:ph idx="101" type="body" hasCustomPrompt="1"/>
          </p:nvPr>
        </p:nvSpPr>
        <p:spPr>
          <a:xfrm>
            <a:off x="685800" y="4754880"/>
            <a:ext cx="4572000" cy="1280160"/>
          </a:xfrm>
          <a:prstGeom prst="rect">
            <a:avLst/>
          </a:prstGeom>
          <a:noFill/>
          <a:ln/>
        </p:spPr>
        <p:txBody>
          <a:bodyPr wrap="square" lIns="0" tIns="0" rIns="0" bIns="0"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Fotballen i Marokko har base i Salé, like utenfor hovedstaden Rabat. Koblingen mellom forbund og stat er sterk.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Kart" descr="Kart over Marokko med de fem regionale sentrene uthevet">    </p:cNvPr>
          <p:cNvPicPr>
            <a:picLocks noChangeAspect="1"/>
          </p:cNvPicPr>
          <p:nvPr/>
        </p:nvPicPr>
        <p:blipFill>
          <a:blip r:embed="rId1"/>
          <a:stretch>
            <a:fillRect/>
          </a:stretch>
        </p:blipFill>
        <p:spPr>
          <a:xfrm>
            <a:off x="4632844" y="0"/>
            <a:ext cx="7558851" cy="6858000"/>
          </a:xfrm>
          <a:prstGeom prst="rect">
            <a:avLst/>
          </a:prstGeom>
        </p:spPr>
      </p:pic>
      <p:sp>
        <p:nvSpPr>
          <p:cNvPr id="3"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Fem regionale sentre</a:t>
            </a:r>
            <a:endParaRPr lang="en-US" sz="3200" dirty="0"/>
          </a:p>
        </p:txBody>
      </p:sp>
      <p:sp>
        <p:nvSpPr>
          <p:cNvPr id="4" name="Punkter"/>
          <p:cNvSpPr txBox="1"/>
          <p:nvPr/>
        </p:nvSpPr>
        <p:spPr>
          <a:xfrm>
            <a:off x="685800" y="1600200"/>
            <a:ext cx="4754880" cy="31089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Forbundet bygger fem regionale sentre for spillerutvikling, der spillerne bor og går på skole.</a:t>
            </a:r>
            <a:endParaRPr lang="en-US" sz="1600" dirty="0"/>
          </a:p>
          <a:p>
            <a:pPr marL="228600" indent="-228600">
              <a:spcAft>
                <a:spcPts val="1000"/>
              </a:spcAft>
              <a:buSzPct val="100000"/>
              <a:buChar char="•"/>
            </a:pPr>
            <a:r>
              <a:rPr lang="en-US" sz="1600" dirty="0">
                <a:solidFill>
                  <a:schemeClr val="bg1"/>
                </a:solidFill>
              </a:rPr>
              <a:t>Fire ser ut til å være ferdige og i drift. Ett åpnet nylig og har bare startet med det yngste kullet.</a:t>
            </a:r>
            <a:endParaRPr lang="en-US" sz="1600" dirty="0"/>
          </a:p>
          <a:p>
            <a:pPr marL="228600" indent="-228600">
              <a:spcAft>
                <a:spcPts val="1000"/>
              </a:spcAft>
              <a:buSzPct val="100000"/>
              <a:buChar char="•"/>
            </a:pPr>
            <a:r>
              <a:rPr lang="en-US" sz="1600" dirty="0">
                <a:solidFill>
                  <a:schemeClr val="bg1"/>
                </a:solidFill>
              </a:rPr>
              <a:t>Saïdia i nordøst, på grensen til Algerie, er det første og mest etablerte senteret.</a:t>
            </a:r>
            <a:endParaRPr lang="en-US" sz="1600" dirty="0"/>
          </a:p>
        </p:txBody>
      </p:sp>
      <p:sp>
        <p:nvSpPr>
          <p:cNvPr id="5" name="Tall ~120"/>
          <p:cNvSpPr txBox="1"/>
          <p:nvPr/>
        </p:nvSpPr>
        <p:spPr>
          <a:xfrm>
            <a:off x="685800" y="4526280"/>
            <a:ext cx="4572000" cy="868680"/>
          </a:xfrm>
          <a:prstGeom prst="rect">
            <a:avLst/>
          </a:prstGeom>
          <a:noFill/>
          <a:ln/>
        </p:spPr>
        <p:txBody>
          <a:bodyPr wrap="square" lIns="0" tIns="0" rIns="0" bIns="0" rtlCol="0" anchor="b"/>
          <a:lstStyle/>
          <a:p>
            <a:pPr indent="0" marL="0">
              <a:buNone/>
            </a:pPr>
            <a:r>
              <a:rPr lang="en-US" sz="5400" b="1" dirty="0">
                <a:solidFill>
                  <a:schemeClr val="accent1"/>
                </a:solidFill>
                <a:latin typeface="Aref Ruqaa" pitchFamily="34" charset="0"/>
                <a:ea typeface="Aref Ruqaa" pitchFamily="34" charset="-122"/>
                <a:cs typeface="Aref Ruqaa" pitchFamily="34" charset="-120"/>
              </a:rPr>
              <a:t>~120</a:t>
            </a:r>
            <a:endParaRPr lang="en-US" sz="5400" dirty="0"/>
          </a:p>
        </p:txBody>
      </p:sp>
      <p:sp>
        <p:nvSpPr>
          <p:cNvPr id="6" name="Etikett ~120"/>
          <p:cNvSpPr txBox="1"/>
          <p:nvPr/>
        </p:nvSpPr>
        <p:spPr>
          <a:xfrm>
            <a:off x="685800" y="5440680"/>
            <a:ext cx="4572000" cy="731520"/>
          </a:xfrm>
          <a:prstGeom prst="rect">
            <a:avLst/>
          </a:prstGeom>
          <a:noFill/>
          <a:ln/>
        </p:spPr>
        <p:txBody>
          <a:bodyPr wrap="square" lIns="0" tIns="0" rIns="0" bIns="0" rtlCol="0" anchor="t"/>
          <a:lstStyle/>
          <a:p>
            <a:pPr indent="0" marL="0">
              <a:buNone/>
            </a:pPr>
            <a:r>
              <a:rPr lang="en-US" sz="1500" dirty="0">
                <a:solidFill>
                  <a:schemeClr val="bg1"/>
                </a:solidFill>
              </a:rPr>
              <a:t>spillere kan bo på senteret i Saïdia</a:t>
            </a:r>
            <a:endParaRPr lang="en-US" sz="15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Hvem driver spillerutvikling</a:t>
            </a:r>
            <a:endParaRPr lang="en-US" sz="3200" dirty="0"/>
          </a:p>
        </p:txBody>
      </p:sp>
      <p:sp>
        <p:nvSpPr>
          <p:cNvPr id="3" name="Kort klubber med utviklingsavdeling"/>
          <p:cNvSpPr/>
          <p:nvPr/>
        </p:nvSpPr>
        <p:spPr>
          <a:xfrm>
            <a:off x="685800" y="1600200"/>
            <a:ext cx="3429000" cy="3246120"/>
          </a:xfrm>
          <a:prstGeom prst="roundRect">
            <a:avLst>
              <a:gd name="adj" fmla="val 3380"/>
            </a:avLst>
          </a:prstGeom>
          <a:solidFill>
            <a:schemeClr val="tx2"/>
          </a:solidFill>
          <a:ln w="6350">
            <a:solidFill>
              <a:srgbClr val="CDBFB5">
                <a:alpha val="15000"/>
              </a:srgbClr>
            </a:solidFill>
            <a:prstDash val="solid"/>
          </a:ln>
        </p:spPr>
      </p:sp>
      <p:sp>
        <p:nvSpPr>
          <p:cNvPr id="4" name="Tall 32"/>
          <p:cNvSpPr txBox="1"/>
          <p:nvPr/>
        </p:nvSpPr>
        <p:spPr>
          <a:xfrm>
            <a:off x="1005840" y="1783080"/>
            <a:ext cx="2788920" cy="960120"/>
          </a:xfrm>
          <a:prstGeom prst="rect">
            <a:avLst/>
          </a:prstGeom>
          <a:noFill/>
          <a:ln/>
        </p:spPr>
        <p:txBody>
          <a:bodyPr wrap="square" lIns="0" tIns="0" rIns="0" bIns="0" rtlCol="0" anchor="b"/>
          <a:lstStyle/>
          <a:p>
            <a:pPr indent="0" marL="0">
              <a:buNone/>
            </a:pPr>
            <a:r>
              <a:rPr lang="en-US" sz="6000" b="1" dirty="0">
                <a:solidFill>
                  <a:schemeClr val="accent1"/>
                </a:solidFill>
                <a:latin typeface="Aref Ruqaa" pitchFamily="34" charset="0"/>
                <a:ea typeface="Aref Ruqaa" pitchFamily="34" charset="-122"/>
                <a:cs typeface="Aref Ruqaa" pitchFamily="34" charset="-120"/>
              </a:rPr>
              <a:t>32</a:t>
            </a:r>
            <a:endParaRPr lang="en-US" sz="6000" dirty="0"/>
          </a:p>
        </p:txBody>
      </p:sp>
      <p:sp>
        <p:nvSpPr>
          <p:cNvPr id="5" name="Etikett 32"/>
          <p:cNvSpPr txBox="1"/>
          <p:nvPr/>
        </p:nvSpPr>
        <p:spPr>
          <a:xfrm>
            <a:off x="1005840" y="2788920"/>
            <a:ext cx="2788920" cy="594360"/>
          </a:xfrm>
          <a:prstGeom prst="rect">
            <a:avLst/>
          </a:prstGeom>
          <a:noFill/>
          <a:ln/>
        </p:spPr>
        <p:txBody>
          <a:bodyPr wrap="square" lIns="0" tIns="0" rIns="0" bIns="0" rtlCol="0" anchor="t"/>
          <a:lstStyle/>
          <a:p>
            <a:pPr indent="0" marL="0">
              <a:buNone/>
            </a:pPr>
            <a:r>
              <a:rPr lang="en-US" sz="1700" b="1" dirty="0">
                <a:solidFill>
                  <a:schemeClr val="bg1"/>
                </a:solidFill>
              </a:rPr>
              <a:t>klubber med utviklingsavdeling</a:t>
            </a:r>
            <a:endParaRPr lang="en-US" sz="1700" dirty="0"/>
          </a:p>
        </p:txBody>
      </p:sp>
      <p:sp>
        <p:nvSpPr>
          <p:cNvPr id="6" name="Tekst 32"/>
          <p:cNvSpPr txBox="1"/>
          <p:nvPr/>
        </p:nvSpPr>
        <p:spPr>
          <a:xfrm>
            <a:off x="1005840" y="3429000"/>
            <a:ext cx="2788920" cy="1280160"/>
          </a:xfrm>
          <a:prstGeom prst="rect">
            <a:avLst/>
          </a:prstGeom>
          <a:noFill/>
          <a:ln/>
        </p:spPr>
        <p:txBody>
          <a:bodyPr wrap="square" lIns="0" tIns="0" rIns="0" bIns="0" rtlCol="0" anchor="t"/>
          <a:lstStyle/>
          <a:p>
            <a:pPr indent="0" marL="0">
              <a:buNone/>
            </a:pPr>
            <a:r>
              <a:rPr lang="en-US" sz="1400" dirty="0">
                <a:solidFill>
                  <a:schemeClr val="bg2"/>
                </a:solidFill>
              </a:rPr>
              <a:t>Krav for lisens i de to profesjonelle ligaene. Kalles «training centers» og «youth categories».</a:t>
            </a:r>
            <a:endParaRPr lang="en-US" sz="1400" dirty="0"/>
          </a:p>
        </p:txBody>
      </p:sp>
      <p:sp>
        <p:nvSpPr>
          <p:cNvPr id="7" name="Kort regionale forbundssentre"/>
          <p:cNvSpPr/>
          <p:nvPr/>
        </p:nvSpPr>
        <p:spPr>
          <a:xfrm>
            <a:off x="4389120" y="1600200"/>
            <a:ext cx="3429000" cy="3246120"/>
          </a:xfrm>
          <a:prstGeom prst="roundRect">
            <a:avLst>
              <a:gd name="adj" fmla="val 3380"/>
            </a:avLst>
          </a:prstGeom>
          <a:solidFill>
            <a:schemeClr val="tx2"/>
          </a:solidFill>
          <a:ln w="6350">
            <a:solidFill>
              <a:srgbClr val="CDBFB5">
                <a:alpha val="15000"/>
              </a:srgbClr>
            </a:solidFill>
            <a:prstDash val="solid"/>
          </a:ln>
        </p:spPr>
      </p:sp>
      <p:sp>
        <p:nvSpPr>
          <p:cNvPr id="8" name="Tall 5"/>
          <p:cNvSpPr txBox="1"/>
          <p:nvPr/>
        </p:nvSpPr>
        <p:spPr>
          <a:xfrm>
            <a:off x="4709160" y="1783080"/>
            <a:ext cx="2788920" cy="960120"/>
          </a:xfrm>
          <a:prstGeom prst="rect">
            <a:avLst/>
          </a:prstGeom>
          <a:noFill/>
          <a:ln/>
        </p:spPr>
        <p:txBody>
          <a:bodyPr wrap="square" lIns="0" tIns="0" rIns="0" bIns="0" rtlCol="0" anchor="b"/>
          <a:lstStyle/>
          <a:p>
            <a:pPr indent="0" marL="0">
              <a:buNone/>
            </a:pPr>
            <a:r>
              <a:rPr lang="en-US" sz="6000" b="1" dirty="0">
                <a:solidFill>
                  <a:schemeClr val="accent1"/>
                </a:solidFill>
                <a:latin typeface="Aref Ruqaa" pitchFamily="34" charset="0"/>
                <a:ea typeface="Aref Ruqaa" pitchFamily="34" charset="-122"/>
                <a:cs typeface="Aref Ruqaa" pitchFamily="34" charset="-120"/>
              </a:rPr>
              <a:t>5</a:t>
            </a:r>
            <a:endParaRPr lang="en-US" sz="6000" dirty="0"/>
          </a:p>
        </p:txBody>
      </p:sp>
      <p:sp>
        <p:nvSpPr>
          <p:cNvPr id="9" name="Etikett 5"/>
          <p:cNvSpPr txBox="1"/>
          <p:nvPr/>
        </p:nvSpPr>
        <p:spPr>
          <a:xfrm>
            <a:off x="4709160" y="2788920"/>
            <a:ext cx="2788920" cy="594360"/>
          </a:xfrm>
          <a:prstGeom prst="rect">
            <a:avLst/>
          </a:prstGeom>
          <a:noFill/>
          <a:ln/>
        </p:spPr>
        <p:txBody>
          <a:bodyPr wrap="square" lIns="0" tIns="0" rIns="0" bIns="0" rtlCol="0" anchor="t"/>
          <a:lstStyle/>
          <a:p>
            <a:pPr indent="0" marL="0">
              <a:buNone/>
            </a:pPr>
            <a:r>
              <a:rPr lang="en-US" sz="1700" b="1" dirty="0">
                <a:solidFill>
                  <a:schemeClr val="bg1"/>
                </a:solidFill>
              </a:rPr>
              <a:t>regionale forbundssentre</a:t>
            </a:r>
            <a:endParaRPr lang="en-US" sz="1700" dirty="0"/>
          </a:p>
        </p:txBody>
      </p:sp>
      <p:sp>
        <p:nvSpPr>
          <p:cNvPr id="10" name="Tekst 5"/>
          <p:cNvSpPr txBox="1"/>
          <p:nvPr/>
        </p:nvSpPr>
        <p:spPr>
          <a:xfrm>
            <a:off x="4709160" y="3429000"/>
            <a:ext cx="2788920" cy="1280160"/>
          </a:xfrm>
          <a:prstGeom prst="rect">
            <a:avLst/>
          </a:prstGeom>
          <a:noFill/>
          <a:ln/>
        </p:spPr>
        <p:txBody>
          <a:bodyPr wrap="square" lIns="0" tIns="0" rIns="0" bIns="0" rtlCol="0" anchor="t"/>
          <a:lstStyle/>
          <a:p>
            <a:pPr indent="0" marL="0">
              <a:buNone/>
            </a:pPr>
            <a:r>
              <a:rPr lang="en-US" sz="1400" dirty="0">
                <a:solidFill>
                  <a:schemeClr val="bg2"/>
                </a:solidFill>
              </a:rPr>
              <a:t>Tar inn både jenter og gutter.</a:t>
            </a:r>
            <a:endParaRPr lang="en-US" sz="1400" dirty="0"/>
          </a:p>
        </p:txBody>
      </p:sp>
      <p:sp>
        <p:nvSpPr>
          <p:cNvPr id="11" name="Kort selvstendig akademi"/>
          <p:cNvSpPr/>
          <p:nvPr/>
        </p:nvSpPr>
        <p:spPr>
          <a:xfrm>
            <a:off x="8092440" y="1600200"/>
            <a:ext cx="3429000" cy="3246120"/>
          </a:xfrm>
          <a:prstGeom prst="roundRect">
            <a:avLst>
              <a:gd name="adj" fmla="val 3380"/>
            </a:avLst>
          </a:prstGeom>
          <a:solidFill>
            <a:schemeClr val="tx2"/>
          </a:solidFill>
          <a:ln w="6350">
            <a:solidFill>
              <a:srgbClr val="CDBFB5">
                <a:alpha val="15000"/>
              </a:srgbClr>
            </a:solidFill>
            <a:prstDash val="solid"/>
          </a:ln>
        </p:spPr>
      </p:sp>
      <p:sp>
        <p:nvSpPr>
          <p:cNvPr id="12" name="Tall 1"/>
          <p:cNvSpPr txBox="1"/>
          <p:nvPr/>
        </p:nvSpPr>
        <p:spPr>
          <a:xfrm>
            <a:off x="8412480" y="1783080"/>
            <a:ext cx="2788920" cy="960120"/>
          </a:xfrm>
          <a:prstGeom prst="rect">
            <a:avLst/>
          </a:prstGeom>
          <a:noFill/>
          <a:ln/>
        </p:spPr>
        <p:txBody>
          <a:bodyPr wrap="square" lIns="0" tIns="0" rIns="0" bIns="0" rtlCol="0" anchor="b"/>
          <a:lstStyle/>
          <a:p>
            <a:pPr indent="0" marL="0">
              <a:buNone/>
            </a:pPr>
            <a:r>
              <a:rPr lang="en-US" sz="6000" b="1" dirty="0">
                <a:solidFill>
                  <a:schemeClr val="accent1"/>
                </a:solidFill>
                <a:latin typeface="Aref Ruqaa" pitchFamily="34" charset="0"/>
                <a:ea typeface="Aref Ruqaa" pitchFamily="34" charset="-122"/>
                <a:cs typeface="Aref Ruqaa" pitchFamily="34" charset="-120"/>
              </a:rPr>
              <a:t>1</a:t>
            </a:r>
            <a:endParaRPr lang="en-US" sz="6000" dirty="0"/>
          </a:p>
        </p:txBody>
      </p:sp>
      <p:sp>
        <p:nvSpPr>
          <p:cNvPr id="13" name="Etikett 1"/>
          <p:cNvSpPr txBox="1"/>
          <p:nvPr/>
        </p:nvSpPr>
        <p:spPr>
          <a:xfrm>
            <a:off x="8412480" y="2788920"/>
            <a:ext cx="2788920" cy="594360"/>
          </a:xfrm>
          <a:prstGeom prst="rect">
            <a:avLst/>
          </a:prstGeom>
          <a:noFill/>
          <a:ln/>
        </p:spPr>
        <p:txBody>
          <a:bodyPr wrap="square" lIns="0" tIns="0" rIns="0" bIns="0" rtlCol="0" anchor="t"/>
          <a:lstStyle/>
          <a:p>
            <a:pPr indent="0" marL="0">
              <a:buNone/>
            </a:pPr>
            <a:r>
              <a:rPr lang="en-US" sz="1700" b="1" dirty="0">
                <a:solidFill>
                  <a:schemeClr val="bg1"/>
                </a:solidFill>
              </a:rPr>
              <a:t>selvstendig akademi</a:t>
            </a:r>
            <a:endParaRPr lang="en-US" sz="1700" dirty="0"/>
          </a:p>
        </p:txBody>
      </p:sp>
      <p:sp>
        <p:nvSpPr>
          <p:cNvPr id="14" name="Tekst 1"/>
          <p:cNvSpPr txBox="1"/>
          <p:nvPr/>
        </p:nvSpPr>
        <p:spPr>
          <a:xfrm>
            <a:off x="8412480" y="3429000"/>
            <a:ext cx="2788920" cy="1280160"/>
          </a:xfrm>
          <a:prstGeom prst="rect">
            <a:avLst/>
          </a:prstGeom>
          <a:noFill/>
          <a:ln/>
        </p:spPr>
        <p:txBody>
          <a:bodyPr wrap="square" lIns="0" tIns="0" rIns="0" bIns="0" rtlCol="0" anchor="t"/>
          <a:lstStyle/>
          <a:p>
            <a:pPr indent="0" marL="0">
              <a:buNone/>
            </a:pPr>
            <a:r>
              <a:rPr lang="en-US" sz="1400" dirty="0">
                <a:solidFill>
                  <a:schemeClr val="bg2"/>
                </a:solidFill>
              </a:rPr>
              <a:t>Bare Mohammed VI-akademiet kalles «academy». Regnes som landets beste utviklingsmiljø.</a:t>
            </a:r>
            <a:endParaRPr lang="en-US" sz="1400" dirty="0"/>
          </a:p>
        </p:txBody>
      </p:sp>
      <p:pic>
        <p:nvPicPr>
          <p:cNvPr id="15" name="Stjerne" descr="Stjerne fra Marokkos flagg">    </p:cNvPr>
          <p:cNvPicPr>
            <a:picLocks noChangeAspect="1"/>
          </p:cNvPicPr>
          <p:nvPr/>
        </p:nvPicPr>
        <p:blipFill>
          <a:blip r:embed="rId1"/>
          <a:stretch>
            <a:fillRect/>
          </a:stretch>
        </p:blipFill>
        <p:spPr>
          <a:xfrm>
            <a:off x="685800" y="5257800"/>
            <a:ext cx="292608" cy="278465"/>
          </a:xfrm>
          <a:prstGeom prst="rect">
            <a:avLst/>
          </a:prstGeom>
        </p:spPr>
      </p:pic>
      <p:sp>
        <p:nvSpPr>
          <p:cNvPr id="16" name="Berkane"/>
          <p:cNvSpPr txBox="1"/>
          <p:nvPr/>
        </p:nvSpPr>
        <p:spPr>
          <a:xfrm>
            <a:off x="1143000" y="5193792"/>
            <a:ext cx="10241280" cy="685800"/>
          </a:xfrm>
          <a:prstGeom prst="rect">
            <a:avLst/>
          </a:prstGeom>
          <a:noFill/>
          <a:ln/>
        </p:spPr>
        <p:txBody>
          <a:bodyPr wrap="square" lIns="0" tIns="0" rIns="0" bIns="0" rtlCol="0" anchor="t"/>
          <a:lstStyle/>
          <a:p>
            <a:pPr indent="0" marL="0">
              <a:buNone/>
            </a:pPr>
            <a:r>
              <a:rPr lang="en-US" sz="1500" b="1" dirty="0">
                <a:solidFill>
                  <a:schemeClr val="accent1"/>
                </a:solidFill>
              </a:rPr>
              <a:t>RS Berkane</a:t>
            </a:r>
            <a:pPr indent="0" marL="0">
              <a:buNone/>
            </a:pPr>
            <a:r>
              <a:rPr lang="en-US" sz="1500" dirty="0">
                <a:solidFill>
                  <a:schemeClr val="bg1"/>
                </a:solidFill>
              </a:rPr>
              <a:t> er anerkjent som klubben med best utviklingsavdeling – men akademiet mener klubben er svært resultatorientert i ungdomsfotballen.</a:t>
            </a:r>
            <a:endParaRPr lang="en-US" sz="15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Løftet for kvinnefotballen</a:t>
            </a:r>
            <a:endParaRPr lang="en-US" sz="3200" dirty="0"/>
          </a:p>
        </p:txBody>
      </p:sp>
      <p:pic>
        <p:nvPicPr>
          <p:cNvPr id="3" name="Bilde kompleks-07" descr="Kamp på en av turneringsbanene i Salé">    </p:cNvPr>
          <p:cNvPicPr>
            <a:picLocks noChangeAspect="1"/>
          </p:cNvPicPr>
          <p:nvPr/>
        </p:nvPicPr>
        <p:blipFill>
          <a:blip r:embed="rId1"/>
          <a:stretch>
            <a:fillRect/>
          </a:stretch>
        </p:blipFill>
        <p:spPr>
          <a:xfrm>
            <a:off x="8001000" y="1325880"/>
            <a:ext cx="3291840" cy="4389120"/>
          </a:xfrm>
          <a:prstGeom prst="rect">
            <a:avLst/>
          </a:prstGeom>
        </p:spPr>
      </p:pic>
      <p:sp>
        <p:nvSpPr>
          <p:cNvPr id="4" name="Bildetekst kompleks-07"/>
          <p:cNvSpPr txBox="1"/>
          <p:nvPr/>
        </p:nvSpPr>
        <p:spPr>
          <a:xfrm>
            <a:off x="8001000" y="5824728"/>
            <a:ext cx="3291840" cy="457200"/>
          </a:xfrm>
          <a:prstGeom prst="rect">
            <a:avLst/>
          </a:prstGeom>
          <a:noFill/>
          <a:ln/>
        </p:spPr>
        <p:txBody>
          <a:bodyPr wrap="square" lIns="0" tIns="0" rIns="0" bIns="0" rtlCol="0" anchor="t"/>
          <a:lstStyle/>
          <a:p>
            <a:pPr indent="0" marL="0">
              <a:buNone/>
            </a:pPr>
            <a:r>
              <a:rPr lang="en-US" sz="1100" dirty="0">
                <a:solidFill>
                  <a:schemeClr val="bg2"/>
                </a:solidFill>
              </a:rPr>
              <a:t>Kamp på en av turneringsbanene i Salé</a:t>
            </a:r>
            <a:endParaRPr lang="en-US" sz="1100" dirty="0"/>
          </a:p>
        </p:txBody>
      </p:sp>
      <p:sp>
        <p:nvSpPr>
          <p:cNvPr id="5" name="Tall 5 år på rad"/>
          <p:cNvSpPr txBox="1"/>
          <p:nvPr/>
        </p:nvSpPr>
        <p:spPr>
          <a:xfrm>
            <a:off x="685800" y="1463040"/>
            <a:ext cx="6217920" cy="868680"/>
          </a:xfrm>
          <a:prstGeom prst="rect">
            <a:avLst/>
          </a:prstGeom>
          <a:noFill/>
          <a:ln/>
        </p:spPr>
        <p:txBody>
          <a:bodyPr wrap="square" lIns="0" tIns="0" rIns="0" bIns="0" rtlCol="0" anchor="b"/>
          <a:lstStyle/>
          <a:p>
            <a:pPr indent="0" marL="0">
              <a:buNone/>
            </a:pPr>
            <a:r>
              <a:rPr lang="en-US" sz="4800" b="1" dirty="0">
                <a:solidFill>
                  <a:schemeClr val="accent1"/>
                </a:solidFill>
                <a:latin typeface="Aref Ruqaa" pitchFamily="34" charset="0"/>
                <a:ea typeface="Aref Ruqaa" pitchFamily="34" charset="-122"/>
                <a:cs typeface="Aref Ruqaa" pitchFamily="34" charset="-120"/>
              </a:rPr>
              <a:t>5 år på rad</a:t>
            </a:r>
            <a:endParaRPr lang="en-US" sz="4800" dirty="0"/>
          </a:p>
        </p:txBody>
      </p:sp>
      <p:sp>
        <p:nvSpPr>
          <p:cNvPr id="6" name="Etikett 5 år på rad"/>
          <p:cNvSpPr txBox="1"/>
          <p:nvPr/>
        </p:nvSpPr>
        <p:spPr>
          <a:xfrm>
            <a:off x="685800" y="2377440"/>
            <a:ext cx="6217920" cy="731520"/>
          </a:xfrm>
          <a:prstGeom prst="rect">
            <a:avLst/>
          </a:prstGeom>
          <a:noFill/>
          <a:ln/>
        </p:spPr>
        <p:txBody>
          <a:bodyPr wrap="square" lIns="0" tIns="0" rIns="0" bIns="0" rtlCol="0" anchor="t"/>
          <a:lstStyle/>
          <a:p>
            <a:pPr indent="0" marL="0">
              <a:buNone/>
            </a:pPr>
            <a:r>
              <a:rPr lang="en-US" sz="1500" dirty="0">
                <a:solidFill>
                  <a:schemeClr val="bg1"/>
                </a:solidFill>
              </a:rPr>
              <a:t>har FIFA tildelt Marokko U17-VM for jenter. Mesterskapet spilles på det nasjonale anlegget.</a:t>
            </a:r>
            <a:endParaRPr lang="en-US" sz="1500" dirty="0"/>
          </a:p>
        </p:txBody>
      </p:sp>
      <p:sp>
        <p:nvSpPr>
          <p:cNvPr id="7" name="Punkter"/>
          <p:cNvSpPr txBox="1"/>
          <p:nvPr/>
        </p:nvSpPr>
        <p:spPr>
          <a:xfrm>
            <a:off x="685800" y="3337560"/>
            <a:ext cx="6492240" cy="26517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Forbundet har satt i gang tiltak, men fremstår som tidlig i prosessen.</a:t>
            </a:r>
            <a:endParaRPr lang="en-US" sz="1600" dirty="0"/>
          </a:p>
          <a:p>
            <a:pPr marL="228600" indent="-228600">
              <a:spcAft>
                <a:spcPts val="1000"/>
              </a:spcAft>
              <a:buSzPct val="100000"/>
              <a:buChar char="•"/>
            </a:pPr>
            <a:r>
              <a:rPr lang="en-US" sz="1600" dirty="0">
                <a:solidFill>
                  <a:schemeClr val="bg1"/>
                </a:solidFill>
              </a:rPr>
              <a:t>De regionale forbundssentrene tar inn jenter. Mohammed VI-akademiet er bare for gutter.</a:t>
            </a:r>
            <a:endParaRPr lang="en-US" sz="1600" dirty="0"/>
          </a:p>
          <a:p>
            <a:pPr marL="228600" indent="-228600">
              <a:spcAft>
                <a:spcPts val="1000"/>
              </a:spcAft>
              <a:buSzPct val="100000"/>
              <a:buChar char="•"/>
            </a:pPr>
            <a:r>
              <a:rPr lang="en-US" sz="1600" dirty="0">
                <a:solidFill>
                  <a:schemeClr val="bg1"/>
                </a:solidFill>
              </a:rPr>
              <a:t>AS FAR fra Rabat, seriemester for kvinner forrige sesong, er den eneste klubben som driver full spillerutvikling for jenter på samme nivå som for gutter.</a:t>
            </a:r>
            <a:endParaRPr lang="en-US" sz="16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Kart" descr="Lokalkart over Rabat og Salé med Mohammed VI Football Complex markert">    </p:cNvPr>
          <p:cNvPicPr>
            <a:picLocks noChangeAspect="1"/>
          </p:cNvPicPr>
          <p:nvPr/>
        </p:nvPicPr>
        <p:blipFill>
          <a:blip r:embed="rId1"/>
          <a:stretch>
            <a:fillRect/>
          </a:stretch>
        </p:blipFill>
        <p:spPr>
          <a:xfrm>
            <a:off x="4632844" y="0"/>
            <a:ext cx="7558851" cy="6858000"/>
          </a:xfrm>
          <a:prstGeom prst="rect">
            <a:avLst/>
          </a:prstGeom>
        </p:spPr>
      </p:pic>
      <p:pic>
        <p:nvPicPr>
          <p:cNvPr id="3" name="Stjerne" descr="Stjerne fra Marokkos flagg">    </p:cNvPr>
          <p:cNvPicPr>
            <a:picLocks noChangeAspect="1"/>
          </p:cNvPicPr>
          <p:nvPr/>
        </p:nvPicPr>
        <p:blipFill>
          <a:blip r:embed="rId2"/>
          <a:stretch>
            <a:fillRect/>
          </a:stretch>
        </p:blipFill>
        <p:spPr>
          <a:xfrm>
            <a:off x="685800" y="1783080"/>
            <a:ext cx="566928" cy="539526"/>
          </a:xfrm>
          <a:prstGeom prst="rect">
            <a:avLst/>
          </a:prstGeom>
        </p:spPr>
      </p:pic>
      <p:sp>
        <p:nvSpPr>
          <p:cNvPr id="4" name="Text 0"/>
          <p:cNvSpPr/>
          <p:nvPr>
            <p:ph idx="100" type="title" hasCustomPrompt="1"/>
          </p:nvPr>
        </p:nvSpPr>
        <p:spPr>
          <a:xfrm>
            <a:off x="685800" y="2697480"/>
            <a:ext cx="49377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Aref Ruqaa" pitchFamily="34" charset="0"/>
                <a:ea typeface="Aref Ruqaa" pitchFamily="34" charset="-122"/>
                <a:cs typeface="Aref Ruqaa" pitchFamily="34" charset="-120"/>
              </a:rPr>
              <a:t>Mohammed VI Football Complex</a:t>
            </a:r>
            <a:endParaRPr lang="en-US" sz="4000" dirty="0"/>
          </a:p>
        </p:txBody>
      </p:sp>
      <p:sp>
        <p:nvSpPr>
          <p:cNvPr id="5" name="Text 0"/>
          <p:cNvSpPr/>
          <p:nvPr>
            <p:ph idx="101" type="body" hasCustomPrompt="1"/>
          </p:nvPr>
        </p:nvSpPr>
        <p:spPr>
          <a:xfrm>
            <a:off x="685800" y="4754880"/>
            <a:ext cx="4572000" cy="1280160"/>
          </a:xfrm>
          <a:prstGeom prst="rect">
            <a:avLst/>
          </a:prstGeom>
          <a:noFill/>
          <a:ln/>
        </p:spPr>
        <p:txBody>
          <a:bodyPr wrap="square" lIns="0" tIns="0" rIns="0" bIns="0"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Det nasjonale anlegget i Salé, ti minutter fra flyplassen. Her holder forbundet, ligaforeningene, FIFAs Afrika-kontor og CAF til.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Fasilitetene</a:t>
            </a:r>
            <a:endParaRPr lang="en-US" sz="3200" dirty="0"/>
          </a:p>
        </p:txBody>
      </p:sp>
      <p:sp>
        <p:nvSpPr>
          <p:cNvPr id="3" name="Tall 11"/>
          <p:cNvSpPr txBox="1"/>
          <p:nvPr/>
        </p:nvSpPr>
        <p:spPr>
          <a:xfrm>
            <a:off x="685800" y="1417320"/>
            <a:ext cx="3291840" cy="868680"/>
          </a:xfrm>
          <a:prstGeom prst="rect">
            <a:avLst/>
          </a:prstGeom>
          <a:noFill/>
          <a:ln/>
        </p:spPr>
        <p:txBody>
          <a:bodyPr wrap="square" lIns="0" tIns="0" rIns="0" bIns="0" rtlCol="0" anchor="b"/>
          <a:lstStyle/>
          <a:p>
            <a:pPr indent="0" marL="0">
              <a:buNone/>
            </a:pPr>
            <a:r>
              <a:rPr lang="en-US" sz="7200" b="1" dirty="0">
                <a:solidFill>
                  <a:schemeClr val="accent1"/>
                </a:solidFill>
                <a:latin typeface="Aref Ruqaa" pitchFamily="34" charset="0"/>
                <a:ea typeface="Aref Ruqaa" pitchFamily="34" charset="-122"/>
                <a:cs typeface="Aref Ruqaa" pitchFamily="34" charset="-120"/>
              </a:rPr>
              <a:t>11</a:t>
            </a:r>
            <a:endParaRPr lang="en-US" sz="7200" dirty="0"/>
          </a:p>
        </p:txBody>
      </p:sp>
      <p:sp>
        <p:nvSpPr>
          <p:cNvPr id="4" name="Etikett 11"/>
          <p:cNvSpPr txBox="1"/>
          <p:nvPr/>
        </p:nvSpPr>
        <p:spPr>
          <a:xfrm>
            <a:off x="685800" y="2331720"/>
            <a:ext cx="3291840" cy="731520"/>
          </a:xfrm>
          <a:prstGeom prst="rect">
            <a:avLst/>
          </a:prstGeom>
          <a:noFill/>
          <a:ln/>
        </p:spPr>
        <p:txBody>
          <a:bodyPr wrap="square" lIns="0" tIns="0" rIns="0" bIns="0" rtlCol="0" anchor="t"/>
          <a:lstStyle/>
          <a:p>
            <a:pPr indent="0" marL="0">
              <a:buNone/>
            </a:pPr>
            <a:r>
              <a:rPr lang="en-US" sz="1500" dirty="0">
                <a:solidFill>
                  <a:schemeClr val="bg1"/>
                </a:solidFill>
              </a:rPr>
              <a:t>utendørsbaner: 7 naturgress, 2 hybrid og 2 kunstgress. Naturgresset skiftes mellom sommer- og vintergress hvert år.</a:t>
            </a:r>
            <a:endParaRPr lang="en-US" sz="1500" dirty="0"/>
          </a:p>
        </p:txBody>
      </p:sp>
      <p:pic>
        <p:nvPicPr>
          <p:cNvPr id="5" name="Bilde kompleks-05" descr="/tmp/claude-0/-home-user-rabat-rapport/36f29318-0f28-5727-a8f5-60b0634c8297/scratchpad/deck/bilder/bue-kompleks-05.jpg">    </p:cNvPr>
          <p:cNvPicPr>
            <a:picLocks noChangeAspect="1"/>
          </p:cNvPicPr>
          <p:nvPr/>
        </p:nvPicPr>
        <p:blipFill>
          <a:blip r:embed="rId1"/>
          <a:stretch>
            <a:fillRect/>
          </a:stretch>
        </p:blipFill>
        <p:spPr>
          <a:xfrm>
            <a:off x="685800" y="3566160"/>
            <a:ext cx="1828800" cy="2438400"/>
          </a:xfrm>
          <a:prstGeom prst="rect">
            <a:avLst/>
          </a:prstGeom>
        </p:spPr>
      </p:pic>
      <p:sp>
        <p:nvSpPr>
          <p:cNvPr id="6" name="Bildetekst hall"/>
          <p:cNvSpPr txBox="1"/>
          <p:nvPr/>
        </p:nvSpPr>
        <p:spPr>
          <a:xfrm>
            <a:off x="2697480" y="5532120"/>
            <a:ext cx="1463040" cy="365760"/>
          </a:xfrm>
          <a:prstGeom prst="rect">
            <a:avLst/>
          </a:prstGeom>
          <a:noFill/>
          <a:ln/>
        </p:spPr>
        <p:txBody>
          <a:bodyPr wrap="square" lIns="0" tIns="0" rIns="0" bIns="0" rtlCol="0" anchor="ctr"/>
          <a:lstStyle/>
          <a:p>
            <a:pPr indent="0" marL="0">
              <a:buNone/>
            </a:pPr>
            <a:r>
              <a:rPr lang="en-US" sz="1100" dirty="0">
                <a:solidFill>
                  <a:schemeClr val="bg2"/>
                </a:solidFill>
              </a:rPr>
              <a:t>Innendørshallen</a:t>
            </a:r>
            <a:endParaRPr lang="en-US" sz="1100" dirty="0"/>
          </a:p>
        </p:txBody>
      </p:sp>
      <p:sp>
        <p:nvSpPr>
          <p:cNvPr id="7" name="Punkt"/>
          <p:cNvSpPr/>
          <p:nvPr/>
        </p:nvSpPr>
        <p:spPr>
          <a:xfrm>
            <a:off x="4572000" y="1545336"/>
            <a:ext cx="146304" cy="146304"/>
          </a:xfrm>
          <a:prstGeom prst="diamond">
            <a:avLst/>
          </a:prstGeom>
          <a:solidFill>
            <a:schemeClr val="accent1"/>
          </a:solidFill>
          <a:ln/>
        </p:spPr>
      </p:sp>
      <p:sp>
        <p:nvSpPr>
          <p:cNvPr id="8" name="Fasilitet 1"/>
          <p:cNvSpPr txBox="1"/>
          <p:nvPr/>
        </p:nvSpPr>
        <p:spPr>
          <a:xfrm>
            <a:off x="4892040" y="1463040"/>
            <a:ext cx="6583680" cy="566928"/>
          </a:xfrm>
          <a:prstGeom prst="rect">
            <a:avLst/>
          </a:prstGeom>
          <a:noFill/>
          <a:ln/>
        </p:spPr>
        <p:txBody>
          <a:bodyPr wrap="square" lIns="0" tIns="0" rIns="0" bIns="0" rtlCol="0" anchor="t"/>
          <a:lstStyle/>
          <a:p>
            <a:pPr indent="0" marL="0">
              <a:buNone/>
            </a:pPr>
            <a:r>
              <a:rPr lang="en-US" sz="1500" dirty="0">
                <a:solidFill>
                  <a:schemeClr val="bg1"/>
                </a:solidFill>
              </a:rPr>
              <a:t>Fullskala innendørshall med 11-erbane og siste generasjon kunstgress</a:t>
            </a:r>
            <a:endParaRPr lang="en-US" sz="1500" dirty="0"/>
          </a:p>
        </p:txBody>
      </p:sp>
      <p:sp>
        <p:nvSpPr>
          <p:cNvPr id="9" name="Punkt"/>
          <p:cNvSpPr/>
          <p:nvPr/>
        </p:nvSpPr>
        <p:spPr>
          <a:xfrm>
            <a:off x="4572000" y="2203704"/>
            <a:ext cx="146304" cy="146304"/>
          </a:xfrm>
          <a:prstGeom prst="diamond">
            <a:avLst/>
          </a:prstGeom>
          <a:solidFill>
            <a:schemeClr val="accent1"/>
          </a:solidFill>
          <a:ln/>
        </p:spPr>
      </p:sp>
      <p:sp>
        <p:nvSpPr>
          <p:cNvPr id="10" name="Fasilitet 2"/>
          <p:cNvSpPr txBox="1"/>
          <p:nvPr/>
        </p:nvSpPr>
        <p:spPr>
          <a:xfrm>
            <a:off x="4892040" y="2121408"/>
            <a:ext cx="6583680" cy="566928"/>
          </a:xfrm>
          <a:prstGeom prst="rect">
            <a:avLst/>
          </a:prstGeom>
          <a:noFill/>
          <a:ln/>
        </p:spPr>
        <p:txBody>
          <a:bodyPr wrap="square" lIns="0" tIns="0" rIns="0" bIns="0" rtlCol="0" anchor="t"/>
          <a:lstStyle/>
          <a:p>
            <a:pPr indent="0" marL="0">
              <a:buNone/>
            </a:pPr>
            <a:r>
              <a:rPr lang="en-US" sz="1500" dirty="0">
                <a:solidFill>
                  <a:schemeClr val="bg1"/>
                </a:solidFill>
              </a:rPr>
              <a:t>Eget område for A-landslaget herrer, med separat bygg, bane og svømmebasseng</a:t>
            </a:r>
            <a:endParaRPr lang="en-US" sz="1500" dirty="0"/>
          </a:p>
        </p:txBody>
      </p:sp>
      <p:sp>
        <p:nvSpPr>
          <p:cNvPr id="11" name="Punkt"/>
          <p:cNvSpPr/>
          <p:nvPr/>
        </p:nvSpPr>
        <p:spPr>
          <a:xfrm>
            <a:off x="4572000" y="2862072"/>
            <a:ext cx="146304" cy="146304"/>
          </a:xfrm>
          <a:prstGeom prst="diamond">
            <a:avLst/>
          </a:prstGeom>
          <a:solidFill>
            <a:schemeClr val="accent1"/>
          </a:solidFill>
          <a:ln/>
        </p:spPr>
      </p:sp>
      <p:sp>
        <p:nvSpPr>
          <p:cNvPr id="12" name="Fasilitet 3"/>
          <p:cNvSpPr txBox="1"/>
          <p:nvPr/>
        </p:nvSpPr>
        <p:spPr>
          <a:xfrm>
            <a:off x="4892040" y="2779776"/>
            <a:ext cx="6583680" cy="566928"/>
          </a:xfrm>
          <a:prstGeom prst="rect">
            <a:avLst/>
          </a:prstGeom>
          <a:noFill/>
          <a:ln/>
        </p:spPr>
        <p:txBody>
          <a:bodyPr wrap="square" lIns="0" tIns="0" rIns="0" bIns="0" rtlCol="0" anchor="t"/>
          <a:lstStyle/>
          <a:p>
            <a:pPr indent="0" marL="0">
              <a:buNone/>
            </a:pPr>
            <a:r>
              <a:rPr lang="en-US" sz="1500" dirty="0">
                <a:solidFill>
                  <a:schemeClr val="bg1"/>
                </a:solidFill>
              </a:rPr>
              <a:t>Eget område med overnatting og sportsskole for jenter</a:t>
            </a:r>
            <a:endParaRPr lang="en-US" sz="1500" dirty="0"/>
          </a:p>
        </p:txBody>
      </p:sp>
      <p:sp>
        <p:nvSpPr>
          <p:cNvPr id="13" name="Punkt"/>
          <p:cNvSpPr/>
          <p:nvPr/>
        </p:nvSpPr>
        <p:spPr>
          <a:xfrm>
            <a:off x="4572000" y="3520440"/>
            <a:ext cx="146304" cy="146304"/>
          </a:xfrm>
          <a:prstGeom prst="diamond">
            <a:avLst/>
          </a:prstGeom>
          <a:solidFill>
            <a:schemeClr val="accent1"/>
          </a:solidFill>
          <a:ln/>
        </p:spPr>
      </p:sp>
      <p:sp>
        <p:nvSpPr>
          <p:cNvPr id="14" name="Fasilitet 4"/>
          <p:cNvSpPr txBox="1"/>
          <p:nvPr/>
        </p:nvSpPr>
        <p:spPr>
          <a:xfrm>
            <a:off x="4892040" y="3438144"/>
            <a:ext cx="6583680" cy="566928"/>
          </a:xfrm>
          <a:prstGeom prst="rect">
            <a:avLst/>
          </a:prstGeom>
          <a:noFill/>
          <a:ln/>
        </p:spPr>
        <p:txBody>
          <a:bodyPr wrap="square" lIns="0" tIns="0" rIns="0" bIns="0" rtlCol="0" anchor="t"/>
          <a:lstStyle/>
          <a:p>
            <a:pPr indent="0" marL="0">
              <a:buNone/>
            </a:pPr>
            <a:r>
              <a:rPr lang="en-US" sz="1500" dirty="0">
                <a:solidFill>
                  <a:schemeClr val="bg1"/>
                </a:solidFill>
              </a:rPr>
              <a:t>Egne bygg for analyse og data, rehabilitering og forskning og medisinsk støtte</a:t>
            </a:r>
            <a:endParaRPr lang="en-US" sz="1500" dirty="0"/>
          </a:p>
        </p:txBody>
      </p:sp>
      <p:sp>
        <p:nvSpPr>
          <p:cNvPr id="15" name="Punkt"/>
          <p:cNvSpPr/>
          <p:nvPr/>
        </p:nvSpPr>
        <p:spPr>
          <a:xfrm>
            <a:off x="4572000" y="4178808"/>
            <a:ext cx="146304" cy="146304"/>
          </a:xfrm>
          <a:prstGeom prst="diamond">
            <a:avLst/>
          </a:prstGeom>
          <a:solidFill>
            <a:schemeClr val="accent1"/>
          </a:solidFill>
          <a:ln/>
        </p:spPr>
      </p:sp>
      <p:sp>
        <p:nvSpPr>
          <p:cNvPr id="16" name="Fasilitet 5"/>
          <p:cNvSpPr txBox="1"/>
          <p:nvPr/>
        </p:nvSpPr>
        <p:spPr>
          <a:xfrm>
            <a:off x="4892040" y="4096512"/>
            <a:ext cx="6583680" cy="566928"/>
          </a:xfrm>
          <a:prstGeom prst="rect">
            <a:avLst/>
          </a:prstGeom>
          <a:noFill/>
          <a:ln/>
        </p:spPr>
        <p:txBody>
          <a:bodyPr wrap="square" lIns="0" tIns="0" rIns="0" bIns="0" rtlCol="0" anchor="t"/>
          <a:lstStyle/>
          <a:p>
            <a:pPr indent="0" marL="0">
              <a:buNone/>
            </a:pPr>
            <a:r>
              <a:rPr lang="en-US" sz="1500" dirty="0">
                <a:solidFill>
                  <a:schemeClr val="bg1"/>
                </a:solidFill>
              </a:rPr>
              <a:t>Medisinsk anlegg med egen ambulanse og separat inngang</a:t>
            </a:r>
            <a:endParaRPr lang="en-US" sz="1500" dirty="0"/>
          </a:p>
        </p:txBody>
      </p:sp>
      <p:sp>
        <p:nvSpPr>
          <p:cNvPr id="17" name="Punkt"/>
          <p:cNvSpPr/>
          <p:nvPr/>
        </p:nvSpPr>
        <p:spPr>
          <a:xfrm>
            <a:off x="4572000" y="4837176"/>
            <a:ext cx="146304" cy="146304"/>
          </a:xfrm>
          <a:prstGeom prst="diamond">
            <a:avLst/>
          </a:prstGeom>
          <a:solidFill>
            <a:schemeClr val="accent1"/>
          </a:solidFill>
          <a:ln/>
        </p:spPr>
      </p:sp>
      <p:sp>
        <p:nvSpPr>
          <p:cNvPr id="18" name="Fasilitet 6"/>
          <p:cNvSpPr txBox="1"/>
          <p:nvPr/>
        </p:nvSpPr>
        <p:spPr>
          <a:xfrm>
            <a:off x="4892040" y="4754880"/>
            <a:ext cx="6583680" cy="566928"/>
          </a:xfrm>
          <a:prstGeom prst="rect">
            <a:avLst/>
          </a:prstGeom>
          <a:noFill/>
          <a:ln/>
        </p:spPr>
        <p:txBody>
          <a:bodyPr wrap="square" lIns="0" tIns="0" rIns="0" bIns="0" rtlCol="0" anchor="t"/>
          <a:lstStyle/>
          <a:p>
            <a:pPr indent="0" marL="0">
              <a:buNone/>
            </a:pPr>
            <a:r>
              <a:rPr lang="en-US" sz="1500" dirty="0">
                <a:solidFill>
                  <a:schemeClr val="bg1"/>
                </a:solidFill>
              </a:rPr>
              <a:t>Ministadion for kamper, med gym og fire garderober for turneringer</a:t>
            </a:r>
            <a:endParaRPr lang="en-US" sz="1500" dirty="0"/>
          </a:p>
        </p:txBody>
      </p:sp>
      <p:sp>
        <p:nvSpPr>
          <p:cNvPr id="19" name="Punkt"/>
          <p:cNvSpPr/>
          <p:nvPr/>
        </p:nvSpPr>
        <p:spPr>
          <a:xfrm>
            <a:off x="4572000" y="5495544"/>
            <a:ext cx="146304" cy="146304"/>
          </a:xfrm>
          <a:prstGeom prst="diamond">
            <a:avLst/>
          </a:prstGeom>
          <a:solidFill>
            <a:schemeClr val="accent1"/>
          </a:solidFill>
          <a:ln/>
        </p:spPr>
      </p:sp>
      <p:sp>
        <p:nvSpPr>
          <p:cNvPr id="20" name="Fasilitet 7"/>
          <p:cNvSpPr txBox="1"/>
          <p:nvPr/>
        </p:nvSpPr>
        <p:spPr>
          <a:xfrm>
            <a:off x="4892040" y="5413248"/>
            <a:ext cx="6583680" cy="566928"/>
          </a:xfrm>
          <a:prstGeom prst="rect">
            <a:avLst/>
          </a:prstGeom>
          <a:noFill/>
          <a:ln/>
        </p:spPr>
        <p:txBody>
          <a:bodyPr wrap="square" lIns="0" tIns="0" rIns="0" bIns="0" rtlCol="0" anchor="t"/>
          <a:lstStyle/>
          <a:p>
            <a:pPr indent="0" marL="0">
              <a:buNone/>
            </a:pPr>
            <a:r>
              <a:rPr lang="en-US" sz="1500" dirty="0">
                <a:solidFill>
                  <a:schemeClr val="bg1"/>
                </a:solidFill>
              </a:rPr>
              <a:t>Turneringsområde med fire kampbaner, hver med tribune og storskjerm, der U17-VM spilles</a:t>
            </a:r>
            <a:endParaRPr lang="en-US" sz="15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Fra anlegget</a:t>
            </a:r>
            <a:endParaRPr lang="en-US" sz="3200" dirty="0"/>
          </a:p>
        </p:txBody>
      </p:sp>
      <p:pic>
        <p:nvPicPr>
          <p:cNvPr id="3" name="Bilde kompleks-01" descr="Inngangen">    </p:cNvPr>
          <p:cNvPicPr>
            <a:picLocks noChangeAspect="1"/>
          </p:cNvPicPr>
          <p:nvPr/>
        </p:nvPicPr>
        <p:blipFill>
          <a:blip r:embed="rId1"/>
          <a:stretch>
            <a:fillRect/>
          </a:stretch>
        </p:blipFill>
        <p:spPr>
          <a:xfrm>
            <a:off x="960120" y="1417320"/>
            <a:ext cx="2377440" cy="3169920"/>
          </a:xfrm>
          <a:prstGeom prst="rect">
            <a:avLst/>
          </a:prstGeom>
        </p:spPr>
      </p:pic>
      <p:sp>
        <p:nvSpPr>
          <p:cNvPr id="4" name="Bildetekst kompleks-01"/>
          <p:cNvSpPr txBox="1"/>
          <p:nvPr/>
        </p:nvSpPr>
        <p:spPr>
          <a:xfrm>
            <a:off x="9601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Inngangen</a:t>
            </a:r>
            <a:endParaRPr lang="en-US" sz="1100" dirty="0"/>
          </a:p>
        </p:txBody>
      </p:sp>
      <p:pic>
        <p:nvPicPr>
          <p:cNvPr id="5" name="Bilde kompleks-02" descr="Hovedbygget">    </p:cNvPr>
          <p:cNvPicPr>
            <a:picLocks noChangeAspect="1"/>
          </p:cNvPicPr>
          <p:nvPr/>
        </p:nvPicPr>
        <p:blipFill>
          <a:blip r:embed="rId2"/>
          <a:stretch>
            <a:fillRect/>
          </a:stretch>
        </p:blipFill>
        <p:spPr>
          <a:xfrm>
            <a:off x="3703320" y="1417320"/>
            <a:ext cx="2377440" cy="3169920"/>
          </a:xfrm>
          <a:prstGeom prst="rect">
            <a:avLst/>
          </a:prstGeom>
        </p:spPr>
      </p:pic>
      <p:sp>
        <p:nvSpPr>
          <p:cNvPr id="6" name="Bildetekst kompleks-02"/>
          <p:cNvSpPr txBox="1"/>
          <p:nvPr/>
        </p:nvSpPr>
        <p:spPr>
          <a:xfrm>
            <a:off x="37033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Hovedbygget</a:t>
            </a:r>
            <a:endParaRPr lang="en-US" sz="1100" dirty="0"/>
          </a:p>
        </p:txBody>
      </p:sp>
      <p:pic>
        <p:nvPicPr>
          <p:cNvPr id="7" name="Bilde kompleks-03" descr="En av utendørsbanene">    </p:cNvPr>
          <p:cNvPicPr>
            <a:picLocks noChangeAspect="1"/>
          </p:cNvPicPr>
          <p:nvPr/>
        </p:nvPicPr>
        <p:blipFill>
          <a:blip r:embed="rId3"/>
          <a:stretch>
            <a:fillRect/>
          </a:stretch>
        </p:blipFill>
        <p:spPr>
          <a:xfrm>
            <a:off x="6446520" y="1417320"/>
            <a:ext cx="2377440" cy="3169920"/>
          </a:xfrm>
          <a:prstGeom prst="rect">
            <a:avLst/>
          </a:prstGeom>
        </p:spPr>
      </p:pic>
      <p:sp>
        <p:nvSpPr>
          <p:cNvPr id="8" name="Bildetekst kompleks-03"/>
          <p:cNvSpPr txBox="1"/>
          <p:nvPr/>
        </p:nvSpPr>
        <p:spPr>
          <a:xfrm>
            <a:off x="64465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En av utendørsbanene</a:t>
            </a:r>
            <a:endParaRPr lang="en-US" sz="1100" dirty="0"/>
          </a:p>
        </p:txBody>
      </p:sp>
      <p:pic>
        <p:nvPicPr>
          <p:cNvPr id="9" name="Bilde kompleks-04" descr="Treningsrom mot banene">    </p:cNvPr>
          <p:cNvPicPr>
            <a:picLocks noChangeAspect="1"/>
          </p:cNvPicPr>
          <p:nvPr/>
        </p:nvPicPr>
        <p:blipFill>
          <a:blip r:embed="rId4"/>
          <a:stretch>
            <a:fillRect/>
          </a:stretch>
        </p:blipFill>
        <p:spPr>
          <a:xfrm>
            <a:off x="9189720" y="1417320"/>
            <a:ext cx="2377440" cy="3169920"/>
          </a:xfrm>
          <a:prstGeom prst="rect">
            <a:avLst/>
          </a:prstGeom>
        </p:spPr>
      </p:pic>
      <p:sp>
        <p:nvSpPr>
          <p:cNvPr id="10" name="Bildetekst kompleks-04"/>
          <p:cNvSpPr txBox="1"/>
          <p:nvPr/>
        </p:nvSpPr>
        <p:spPr>
          <a:xfrm>
            <a:off x="91897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Treningsrom mot banene</a:t>
            </a:r>
            <a:endParaRPr lang="en-US" sz="11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Kart" descr="Kart over Marokko med byene som har klubb i Botola Pro">    </p:cNvPr>
          <p:cNvPicPr>
            <a:picLocks noChangeAspect="1"/>
          </p:cNvPicPr>
          <p:nvPr/>
        </p:nvPicPr>
        <p:blipFill>
          <a:blip r:embed="rId1"/>
          <a:stretch>
            <a:fillRect/>
          </a:stretch>
        </p:blipFill>
        <p:spPr>
          <a:xfrm>
            <a:off x="4632844" y="0"/>
            <a:ext cx="7558851" cy="6858000"/>
          </a:xfrm>
          <a:prstGeom prst="rect">
            <a:avLst/>
          </a:prstGeom>
        </p:spPr>
      </p:pic>
      <p:pic>
        <p:nvPicPr>
          <p:cNvPr id="3" name="Stjerne" descr="Stjerne fra Marokkos flagg">    </p:cNvPr>
          <p:cNvPicPr>
            <a:picLocks noChangeAspect="1"/>
          </p:cNvPicPr>
          <p:nvPr/>
        </p:nvPicPr>
        <p:blipFill>
          <a:blip r:embed="rId2"/>
          <a:stretch>
            <a:fillRect/>
          </a:stretch>
        </p:blipFill>
        <p:spPr>
          <a:xfrm>
            <a:off x="685800" y="1783080"/>
            <a:ext cx="566928" cy="539526"/>
          </a:xfrm>
          <a:prstGeom prst="rect">
            <a:avLst/>
          </a:prstGeom>
        </p:spPr>
      </p:pic>
      <p:sp>
        <p:nvSpPr>
          <p:cNvPr id="4" name="Text 0"/>
          <p:cNvSpPr/>
          <p:nvPr>
            <p:ph idx="100" type="title" hasCustomPrompt="1"/>
          </p:nvPr>
        </p:nvSpPr>
        <p:spPr>
          <a:xfrm>
            <a:off x="685800" y="2697480"/>
            <a:ext cx="49377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Aref Ruqaa" pitchFamily="34" charset="0"/>
                <a:ea typeface="Aref Ruqaa" pitchFamily="34" charset="-122"/>
                <a:cs typeface="Aref Ruqaa" pitchFamily="34" charset="-120"/>
              </a:rPr>
              <a:t>Ligue National de Football Professionnel</a:t>
            </a:r>
            <a:endParaRPr lang="en-US" sz="4000" dirty="0"/>
          </a:p>
        </p:txBody>
      </p:sp>
      <p:sp>
        <p:nvSpPr>
          <p:cNvPr id="5" name="Text 0"/>
          <p:cNvSpPr/>
          <p:nvPr>
            <p:ph idx="101" type="body" hasCustomPrompt="1"/>
          </p:nvPr>
        </p:nvSpPr>
        <p:spPr>
          <a:xfrm>
            <a:off x="685800" y="4754880"/>
            <a:ext cx="4572000" cy="1280160"/>
          </a:xfrm>
          <a:prstGeom prst="rect">
            <a:avLst/>
          </a:prstGeom>
          <a:noFill/>
          <a:ln/>
        </p:spPr>
        <p:txBody>
          <a:bodyPr wrap="square" lIns="0" tIns="0" rIns="0" bIns="0"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To profesjonelle ligaer med 16 lag hver. Resten av ligasystemet er amatørfotball.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Kart" descr="Kart over Marokko med klubbyene i Botola Pro">    </p:cNvPr>
          <p:cNvPicPr>
            <a:picLocks noChangeAspect="1"/>
          </p:cNvPicPr>
          <p:nvPr/>
        </p:nvPicPr>
        <p:blipFill>
          <a:blip r:embed="rId1"/>
          <a:stretch>
            <a:fillRect/>
          </a:stretch>
        </p:blipFill>
        <p:spPr>
          <a:xfrm>
            <a:off x="4632844" y="0"/>
            <a:ext cx="7558851" cy="6858000"/>
          </a:xfrm>
          <a:prstGeom prst="rect">
            <a:avLst/>
          </a:prstGeom>
        </p:spPr>
      </p:pic>
      <p:sp>
        <p:nvSpPr>
          <p:cNvPr id="3"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Botola Pro 2025/26</a:t>
            </a:r>
            <a:endParaRPr lang="en-US" sz="3200" dirty="0"/>
          </a:p>
        </p:txBody>
      </p:sp>
      <p:graphicFrame>
        <p:nvGraphicFramePr>
          <p:cNvPr id="12" name="Botola-tabell"/>
          <p:cNvGraphicFramePr>
            <a:graphicFrameLocks noGrp="1"/>
          </p:cNvGraphicFramePr>
          <p:nvPr>
            <p:extLst>
              <p:ext uri="{D42A27DB-BD31-4B8C-83A1-F6EECF244321}">
                <p14:modId xmlns:p14="http://schemas.microsoft.com/office/powerpoint/2010/main" val="1579011935"/>
              </p:ext>
            </p:extLst>
          </p:nvPr>
        </p:nvGraphicFramePr>
        <p:xfrm>
          <a:off x="685800" y="1325880"/>
          <a:ext cx="5120640" cy="914400"/>
        </p:xfrm>
        <a:graphic>
          <a:graphicData uri="http://schemas.openxmlformats.org/drawingml/2006/table">
            <a:tbl>
              <a:tblPr/>
              <a:tblGrid>
                <a:gridCol w="411480"/>
                <a:gridCol w="2514600"/>
                <a:gridCol w="1417320"/>
                <a:gridCol w="777240"/>
              </a:tblGrid>
              <a:tr h="274320">
                <a:tc>
                  <a:txBody>
                    <a:bodyPr/>
                    <a:lstStyle/>
                    <a:p>
                      <a:pPr algn="r" indent="0" marL="0">
                        <a:buNone/>
                      </a:pPr>
                      <a:r>
                        <a:rPr lang="en-US" sz="1000" b="1" dirty="0">
                          <a:solidFill>
                            <a:schemeClr val="bg2"/>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l" indent="0" marL="0">
                        <a:buNone/>
                      </a:pPr>
                      <a:r>
                        <a:rPr lang="en-US" sz="1000" b="1" dirty="0">
                          <a:solidFill>
                            <a:schemeClr val="bg2"/>
                          </a:solidFill>
                          <a:latin typeface="Calibri" pitchFamily="34" charset="0"/>
                          <a:ea typeface="Calibri" pitchFamily="34" charset="-122"/>
                          <a:cs typeface="Calibri" pitchFamily="34" charset="-120"/>
                        </a:rPr>
                        <a:t>Klubb</a:t>
                      </a:r>
                      <a:endParaRPr lang="en-US" sz="10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l" indent="0" marL="0">
                        <a:buNone/>
                      </a:pPr>
                      <a:r>
                        <a:rPr lang="en-US" sz="1000" b="1" dirty="0">
                          <a:solidFill>
                            <a:schemeClr val="bg2"/>
                          </a:solidFill>
                          <a:latin typeface="Calibri" pitchFamily="34" charset="0"/>
                          <a:ea typeface="Calibri" pitchFamily="34" charset="-122"/>
                          <a:cs typeface="Calibri" pitchFamily="34" charset="-120"/>
                        </a:rPr>
                        <a:t>By</a:t>
                      </a:r>
                      <a:endParaRPr lang="en-US" sz="10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000" b="1" dirty="0">
                          <a:solidFill>
                            <a:schemeClr val="bg2"/>
                          </a:solidFill>
                          <a:latin typeface="Calibri" pitchFamily="34" charset="0"/>
                          <a:ea typeface="Calibri" pitchFamily="34" charset="-122"/>
                          <a:cs typeface="Calibri" pitchFamily="34" charset="-120"/>
                        </a:rPr>
                        <a:t>Poeng</a:t>
                      </a:r>
                      <a:endParaRPr lang="en-US" sz="10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b="1" dirty="0">
                          <a:solidFill>
                            <a:schemeClr val="accent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Maghreb de Fès</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Fès</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RS Berkane</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Berkane</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Raja Casablanca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Casablanca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AS FAR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Rabat</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Wydad Casablanca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Casablanca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Difaâ El Jadida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El Jadida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Ittihad Tanger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Tanger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FUS Rabat</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Rabat</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Kawkab Marrakech</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Marrakech</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CODM Meknès</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Meknès</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Renaissance Zemamra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Zemamra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Hassania Agadir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Agadir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Union Touarga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Rabat</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1"/>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2"/>
                          </a:solidFill>
                          <a:latin typeface="Calibri" pitchFamily="34" charset="0"/>
                          <a:ea typeface="Calibri" pitchFamily="34" charset="-122"/>
                          <a:cs typeface="Calibri" pitchFamily="34" charset="-120"/>
                        </a:rPr>
                        <a:t>Olympique Dcheira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Dcheira</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2"/>
                          </a:solidFill>
                          <a:latin typeface="Calibri" pitchFamily="34" charset="0"/>
                          <a:ea typeface="Calibri" pitchFamily="34" charset="-122"/>
                          <a:cs typeface="Calibri" pitchFamily="34" charset="-120"/>
                        </a:rPr>
                        <a:t>US Yacoub El Mansour</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Rabat</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r h="274320">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b="1" dirty="0">
                          <a:solidFill>
                            <a:schemeClr val="bg2"/>
                          </a:solidFill>
                          <a:latin typeface="Calibri" pitchFamily="34" charset="0"/>
                          <a:ea typeface="Calibri" pitchFamily="34" charset="-122"/>
                          <a:cs typeface="Calibri" pitchFamily="34" charset="-120"/>
                        </a:rPr>
                        <a:t>Olympic Safi</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Safi</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c>
                  <a:txBody>
                    <a:bodyPr/>
                    <a:lstStyle/>
                    <a:p>
                      <a:pPr algn="r" indent="0" marL="0">
                        <a:buNone/>
                      </a:pPr>
                      <a:r>
                        <a:rPr lang="en-US" sz="1200" dirty="0">
                          <a:solidFill>
                            <a:schemeClr val="bg2"/>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3152" marR="73152" marT="0" marB="0" anchor="ctr">
                    <a:lnL w="6350" cap="flat" cmpd="sng" algn="ctr">
                      <a:solidFill>
                        <a:srgbClr val="4A3236"/>
                      </a:solidFill>
                      <a:prstDash val="solid"/>
                      <a:round/>
                      <a:headEnd type="none" w="med" len="med"/>
                      <a:tailEnd type="none" w="med" len="med"/>
                    </a:lnL>
                    <a:lnR w="6350" cap="flat" cmpd="sng" algn="ctr">
                      <a:solidFill>
                        <a:srgbClr val="4A3236"/>
                      </a:solidFill>
                      <a:prstDash val="solid"/>
                      <a:round/>
                      <a:headEnd type="none" w="med" len="med"/>
                      <a:tailEnd type="none" w="med" len="med"/>
                    </a:lnR>
                    <a:lnT w="6350" cap="flat" cmpd="sng" algn="ctr">
                      <a:solidFill>
                        <a:srgbClr val="4A3236"/>
                      </a:solidFill>
                      <a:prstDash val="solid"/>
                      <a:round/>
                      <a:headEnd type="none" w="med" len="med"/>
                      <a:tailEnd type="none" w="med" len="med"/>
                    </a:lnT>
                    <a:lnB w="6350" cap="flat" cmpd="sng" algn="ctr">
                      <a:solidFill>
                        <a:srgbClr val="4A3236"/>
                      </a:solidFill>
                      <a:prstDash val="solid"/>
                      <a:round/>
                      <a:headEnd type="none" w="med" len="med"/>
                      <a:tailEnd type="none" w="med" len="med"/>
                    </a:lnB>
                    <a:solidFill>
                      <a:srgbClr val="1E0B0D"/>
                    </a:solidFill>
                  </a:tcPr>
                </a:tc>
              </a:tr>
            </a:tbl>
          </a:graphicData>
        </a:graphic>
      </p:graphicFrame>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Ligaforeningen</a:t>
            </a:r>
            <a:endParaRPr lang="en-US" sz="3200" dirty="0"/>
          </a:p>
        </p:txBody>
      </p:sp>
      <p:sp>
        <p:nvSpPr>
          <p:cNvPr id="3" name="Tall 20"/>
          <p:cNvSpPr txBox="1"/>
          <p:nvPr/>
        </p:nvSpPr>
        <p:spPr>
          <a:xfrm>
            <a:off x="685800" y="1417320"/>
            <a:ext cx="246888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20</a:t>
            </a:r>
            <a:endParaRPr lang="en-US" sz="6600" dirty="0"/>
          </a:p>
        </p:txBody>
      </p:sp>
      <p:sp>
        <p:nvSpPr>
          <p:cNvPr id="4" name="Etikett 20"/>
          <p:cNvSpPr txBox="1"/>
          <p:nvPr/>
        </p:nvSpPr>
        <p:spPr>
          <a:xfrm>
            <a:off x="685800" y="2331720"/>
            <a:ext cx="2468880" cy="731520"/>
          </a:xfrm>
          <a:prstGeom prst="rect">
            <a:avLst/>
          </a:prstGeom>
          <a:noFill/>
          <a:ln/>
        </p:spPr>
        <p:txBody>
          <a:bodyPr wrap="square" lIns="0" tIns="0" rIns="0" bIns="0" rtlCol="0" anchor="t"/>
          <a:lstStyle/>
          <a:p>
            <a:pPr indent="0" marL="0">
              <a:buNone/>
            </a:pPr>
            <a:r>
              <a:rPr lang="en-US" sz="1500" dirty="0">
                <a:solidFill>
                  <a:schemeClr val="bg1"/>
                </a:solidFill>
              </a:rPr>
              <a:t>ansatte</a:t>
            </a:r>
            <a:endParaRPr lang="en-US" sz="1500" dirty="0"/>
          </a:p>
        </p:txBody>
      </p:sp>
      <p:sp>
        <p:nvSpPr>
          <p:cNvPr id="5" name="Tall 7"/>
          <p:cNvSpPr txBox="1"/>
          <p:nvPr/>
        </p:nvSpPr>
        <p:spPr>
          <a:xfrm>
            <a:off x="3429000" y="1417320"/>
            <a:ext cx="246888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7</a:t>
            </a:r>
            <a:endParaRPr lang="en-US" sz="6600" dirty="0"/>
          </a:p>
        </p:txBody>
      </p:sp>
      <p:sp>
        <p:nvSpPr>
          <p:cNvPr id="6" name="Etikett 7"/>
          <p:cNvSpPr txBox="1"/>
          <p:nvPr/>
        </p:nvSpPr>
        <p:spPr>
          <a:xfrm>
            <a:off x="3429000" y="2331720"/>
            <a:ext cx="2468880" cy="731520"/>
          </a:xfrm>
          <a:prstGeom prst="rect">
            <a:avLst/>
          </a:prstGeom>
          <a:noFill/>
          <a:ln/>
        </p:spPr>
        <p:txBody>
          <a:bodyPr wrap="square" lIns="0" tIns="0" rIns="0" bIns="0" rtlCol="0" anchor="t"/>
          <a:lstStyle/>
          <a:p>
            <a:pPr indent="0" marL="0">
              <a:buNone/>
            </a:pPr>
            <a:r>
              <a:rPr lang="en-US" sz="1500" dirty="0">
                <a:solidFill>
                  <a:schemeClr val="bg1"/>
                </a:solidFill>
              </a:rPr>
              <a:t>avdelinger</a:t>
            </a:r>
            <a:endParaRPr lang="en-US" sz="1500" dirty="0"/>
          </a:p>
        </p:txBody>
      </p:sp>
      <p:sp>
        <p:nvSpPr>
          <p:cNvPr id="7" name="Tall 3"/>
          <p:cNvSpPr txBox="1"/>
          <p:nvPr/>
        </p:nvSpPr>
        <p:spPr>
          <a:xfrm>
            <a:off x="6172200" y="1417320"/>
            <a:ext cx="246888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3</a:t>
            </a:r>
            <a:endParaRPr lang="en-US" sz="6600" dirty="0"/>
          </a:p>
        </p:txBody>
      </p:sp>
      <p:sp>
        <p:nvSpPr>
          <p:cNvPr id="8" name="Etikett 3"/>
          <p:cNvSpPr txBox="1"/>
          <p:nvPr/>
        </p:nvSpPr>
        <p:spPr>
          <a:xfrm>
            <a:off x="6172200" y="2331720"/>
            <a:ext cx="2468880" cy="731520"/>
          </a:xfrm>
          <a:prstGeom prst="rect">
            <a:avLst/>
          </a:prstGeom>
          <a:noFill/>
          <a:ln/>
        </p:spPr>
        <p:txBody>
          <a:bodyPr wrap="square" lIns="0" tIns="0" rIns="0" bIns="0" rtlCol="0" anchor="t"/>
          <a:lstStyle/>
          <a:p>
            <a:pPr indent="0" marL="0">
              <a:buNone/>
            </a:pPr>
            <a:r>
              <a:rPr lang="en-US" sz="1500" dirty="0">
                <a:solidFill>
                  <a:schemeClr val="bg1"/>
                </a:solidFill>
              </a:rPr>
              <a:t>i technical department</a:t>
            </a:r>
            <a:endParaRPr lang="en-US" sz="1500" dirty="0"/>
          </a:p>
        </p:txBody>
      </p:sp>
      <p:sp>
        <p:nvSpPr>
          <p:cNvPr id="9" name="Punkter"/>
          <p:cNvSpPr txBox="1"/>
          <p:nvPr/>
        </p:nvSpPr>
        <p:spPr>
          <a:xfrm>
            <a:off x="685800" y="3429000"/>
            <a:ext cx="7680960" cy="25603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Samarbeidsklimaet mellom klubbene kan være utfordrende, men avdelingene samler klubbene på tvers innenfor sitt fagfelt.</a:t>
            </a:r>
            <a:endParaRPr lang="en-US" sz="1600" dirty="0"/>
          </a:p>
          <a:p>
            <a:pPr marL="228600" indent="-228600">
              <a:spcAft>
                <a:spcPts val="1000"/>
              </a:spcAft>
              <a:buSzPct val="100000"/>
              <a:buChar char="•"/>
            </a:pPr>
            <a:r>
              <a:rPr lang="en-US" sz="1600" dirty="0">
                <a:solidFill>
                  <a:schemeClr val="bg1"/>
                </a:solidFill>
              </a:rPr>
              <a:t>LNFP er en gren under fotballforbundet, tilsvarende Norsk Toppfotball.</a:t>
            </a:r>
            <a:endParaRPr lang="en-US" sz="1600" dirty="0"/>
          </a:p>
          <a:p>
            <a:pPr marL="228600" indent="-228600">
              <a:spcAft>
                <a:spcPts val="1000"/>
              </a:spcAft>
              <a:buSzPct val="100000"/>
              <a:buChar char="•"/>
            </a:pPr>
            <a:r>
              <a:rPr lang="en-US" sz="1600" dirty="0">
                <a:solidFill>
                  <a:schemeClr val="bg1"/>
                </a:solidFill>
              </a:rPr>
              <a:t>Ligaen viser også til en egen avdeling for utvikling av unge elitespillere.</a:t>
            </a:r>
            <a:endParaRPr lang="en-US" sz="16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Klassifisering av utviklingsavdelinger</a:t>
            </a:r>
            <a:endParaRPr lang="en-US" sz="3200" dirty="0"/>
          </a:p>
        </p:txBody>
      </p:sp>
      <p:sp>
        <p:nvSpPr>
          <p:cNvPr id="3" name="Kategori Excellence"/>
          <p:cNvSpPr/>
          <p:nvPr/>
        </p:nvSpPr>
        <p:spPr>
          <a:xfrm>
            <a:off x="685800" y="1508760"/>
            <a:ext cx="5120640" cy="685800"/>
          </a:xfrm>
          <a:prstGeom prst="roundRect">
            <a:avLst>
              <a:gd name="adj" fmla="val 10667"/>
            </a:avLst>
          </a:prstGeom>
          <a:solidFill>
            <a:schemeClr val="accent1"/>
          </a:solidFill>
          <a:ln/>
        </p:spPr>
      </p:sp>
      <p:sp>
        <p:nvSpPr>
          <p:cNvPr id="4" name="Navn Excellence"/>
          <p:cNvSpPr txBox="1"/>
          <p:nvPr/>
        </p:nvSpPr>
        <p:spPr>
          <a:xfrm>
            <a:off x="960120" y="1508760"/>
            <a:ext cx="4754880" cy="685800"/>
          </a:xfrm>
          <a:prstGeom prst="rect">
            <a:avLst/>
          </a:prstGeom>
          <a:noFill/>
          <a:ln/>
        </p:spPr>
        <p:txBody>
          <a:bodyPr wrap="square" lIns="0" tIns="0" rIns="0" bIns="0" rtlCol="0" anchor="ctr"/>
          <a:lstStyle/>
          <a:p>
            <a:pPr indent="0" marL="0">
              <a:buNone/>
            </a:pPr>
            <a:r>
              <a:rPr lang="en-US" sz="2200" b="1" dirty="0">
                <a:solidFill>
                  <a:schemeClr val="tx1"/>
                </a:solidFill>
                <a:latin typeface="Aref Ruqaa" pitchFamily="34" charset="0"/>
                <a:ea typeface="Aref Ruqaa" pitchFamily="34" charset="-122"/>
                <a:cs typeface="Aref Ruqaa" pitchFamily="34" charset="-120"/>
              </a:rPr>
              <a:t>Excellence</a:t>
            </a:r>
            <a:endParaRPr lang="en-US" sz="2200" dirty="0"/>
          </a:p>
        </p:txBody>
      </p:sp>
      <p:sp>
        <p:nvSpPr>
          <p:cNvPr id="5" name="Kategori Elite"/>
          <p:cNvSpPr/>
          <p:nvPr/>
        </p:nvSpPr>
        <p:spPr>
          <a:xfrm>
            <a:off x="685800" y="2377440"/>
            <a:ext cx="4160520" cy="685800"/>
          </a:xfrm>
          <a:prstGeom prst="roundRect">
            <a:avLst>
              <a:gd name="adj" fmla="val 10667"/>
            </a:avLst>
          </a:prstGeom>
          <a:solidFill>
            <a:schemeClr val="accent1">
              <a:alpha val="78000"/>
            </a:schemeClr>
          </a:solidFill>
          <a:ln/>
        </p:spPr>
      </p:sp>
      <p:sp>
        <p:nvSpPr>
          <p:cNvPr id="6" name="Navn Elite"/>
          <p:cNvSpPr txBox="1"/>
          <p:nvPr/>
        </p:nvSpPr>
        <p:spPr>
          <a:xfrm>
            <a:off x="960120" y="2377440"/>
            <a:ext cx="3794760" cy="685800"/>
          </a:xfrm>
          <a:prstGeom prst="rect">
            <a:avLst/>
          </a:prstGeom>
          <a:noFill/>
          <a:ln/>
        </p:spPr>
        <p:txBody>
          <a:bodyPr wrap="square" lIns="0" tIns="0" rIns="0" bIns="0" rtlCol="0" anchor="ctr"/>
          <a:lstStyle/>
          <a:p>
            <a:pPr indent="0" marL="0">
              <a:buNone/>
            </a:pPr>
            <a:r>
              <a:rPr lang="en-US" sz="2200" b="1" dirty="0">
                <a:solidFill>
                  <a:schemeClr val="tx1"/>
                </a:solidFill>
                <a:latin typeface="Aref Ruqaa" pitchFamily="34" charset="0"/>
                <a:ea typeface="Aref Ruqaa" pitchFamily="34" charset="-122"/>
                <a:cs typeface="Aref Ruqaa" pitchFamily="34" charset="-120"/>
              </a:rPr>
              <a:t>Elite</a:t>
            </a:r>
            <a:endParaRPr lang="en-US" sz="2200" dirty="0"/>
          </a:p>
        </p:txBody>
      </p:sp>
      <p:sp>
        <p:nvSpPr>
          <p:cNvPr id="7" name="Kategori Potentiel"/>
          <p:cNvSpPr/>
          <p:nvPr/>
        </p:nvSpPr>
        <p:spPr>
          <a:xfrm>
            <a:off x="685800" y="3246120"/>
            <a:ext cx="3200400" cy="685800"/>
          </a:xfrm>
          <a:prstGeom prst="roundRect">
            <a:avLst>
              <a:gd name="adj" fmla="val 10667"/>
            </a:avLst>
          </a:prstGeom>
          <a:solidFill>
            <a:schemeClr val="accent1">
              <a:alpha val="56000"/>
            </a:schemeClr>
          </a:solidFill>
          <a:ln/>
        </p:spPr>
      </p:sp>
      <p:sp>
        <p:nvSpPr>
          <p:cNvPr id="8" name="Navn Potentiel"/>
          <p:cNvSpPr txBox="1"/>
          <p:nvPr/>
        </p:nvSpPr>
        <p:spPr>
          <a:xfrm>
            <a:off x="960120" y="3246120"/>
            <a:ext cx="2834640" cy="685800"/>
          </a:xfrm>
          <a:prstGeom prst="rect">
            <a:avLst/>
          </a:prstGeom>
          <a:noFill/>
          <a:ln/>
        </p:spPr>
        <p:txBody>
          <a:bodyPr wrap="square" lIns="0" tIns="0" rIns="0" bIns="0" rtlCol="0" anchor="ctr"/>
          <a:lstStyle/>
          <a:p>
            <a:pPr indent="0" marL="0">
              <a:buNone/>
            </a:pPr>
            <a:r>
              <a:rPr lang="en-US" sz="2200" b="1" dirty="0">
                <a:solidFill>
                  <a:schemeClr val="bg1"/>
                </a:solidFill>
                <a:latin typeface="Aref Ruqaa" pitchFamily="34" charset="0"/>
                <a:ea typeface="Aref Ruqaa" pitchFamily="34" charset="-122"/>
                <a:cs typeface="Aref Ruqaa" pitchFamily="34" charset="-120"/>
              </a:rPr>
              <a:t>Potentiel</a:t>
            </a:r>
            <a:endParaRPr lang="en-US" sz="2200" dirty="0"/>
          </a:p>
        </p:txBody>
      </p:sp>
      <p:sp>
        <p:nvSpPr>
          <p:cNvPr id="9" name="Kategori Minimal"/>
          <p:cNvSpPr/>
          <p:nvPr/>
        </p:nvSpPr>
        <p:spPr>
          <a:xfrm>
            <a:off x="685800" y="4114800"/>
            <a:ext cx="2240280" cy="685800"/>
          </a:xfrm>
          <a:prstGeom prst="roundRect">
            <a:avLst>
              <a:gd name="adj" fmla="val 10667"/>
            </a:avLst>
          </a:prstGeom>
          <a:solidFill>
            <a:schemeClr val="accent1">
              <a:alpha val="34000"/>
            </a:schemeClr>
          </a:solidFill>
          <a:ln/>
        </p:spPr>
      </p:sp>
      <p:sp>
        <p:nvSpPr>
          <p:cNvPr id="10" name="Navn Minimal"/>
          <p:cNvSpPr txBox="1"/>
          <p:nvPr/>
        </p:nvSpPr>
        <p:spPr>
          <a:xfrm>
            <a:off x="960120" y="4114800"/>
            <a:ext cx="1874520" cy="685800"/>
          </a:xfrm>
          <a:prstGeom prst="rect">
            <a:avLst/>
          </a:prstGeom>
          <a:noFill/>
          <a:ln/>
        </p:spPr>
        <p:txBody>
          <a:bodyPr wrap="square" lIns="0" tIns="0" rIns="0" bIns="0" rtlCol="0" anchor="ctr"/>
          <a:lstStyle/>
          <a:p>
            <a:pPr indent="0" marL="0">
              <a:buNone/>
            </a:pPr>
            <a:r>
              <a:rPr lang="en-US" sz="2200" b="1" dirty="0">
                <a:solidFill>
                  <a:schemeClr val="bg1"/>
                </a:solidFill>
                <a:latin typeface="Aref Ruqaa" pitchFamily="34" charset="0"/>
                <a:ea typeface="Aref Ruqaa" pitchFamily="34" charset="-122"/>
                <a:cs typeface="Aref Ruqaa" pitchFamily="34" charset="-120"/>
              </a:rPr>
              <a:t>Minimal</a:t>
            </a:r>
            <a:endParaRPr lang="en-US" sz="2200" dirty="0"/>
          </a:p>
        </p:txBody>
      </p:sp>
      <p:sp>
        <p:nvSpPr>
          <p:cNvPr id="11" name="Forklaring"/>
          <p:cNvSpPr txBox="1"/>
          <p:nvPr/>
        </p:nvSpPr>
        <p:spPr>
          <a:xfrm>
            <a:off x="685800" y="5074920"/>
            <a:ext cx="5120640" cy="365760"/>
          </a:xfrm>
          <a:prstGeom prst="rect">
            <a:avLst/>
          </a:prstGeom>
          <a:noFill/>
          <a:ln/>
        </p:spPr>
        <p:txBody>
          <a:bodyPr wrap="square" lIns="0" tIns="0" rIns="0" bIns="0" rtlCol="0" anchor="ctr"/>
          <a:lstStyle/>
          <a:p>
            <a:pPr indent="0" marL="0">
              <a:buNone/>
            </a:pPr>
            <a:r>
              <a:rPr lang="en-US" sz="1300" dirty="0">
                <a:solidFill>
                  <a:schemeClr val="bg2"/>
                </a:solidFill>
              </a:rPr>
              <a:t>Fire kategorier etter poengsum</a:t>
            </a:r>
            <a:endParaRPr lang="en-US" sz="1300" dirty="0"/>
          </a:p>
        </p:txBody>
      </p:sp>
      <p:sp>
        <p:nvSpPr>
          <p:cNvPr id="12" name="Punkter"/>
          <p:cNvSpPr txBox="1"/>
          <p:nvPr/>
        </p:nvSpPr>
        <p:spPr>
          <a:xfrm>
            <a:off x="6492240" y="1508760"/>
            <a:ext cx="5029200" cy="43891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Utviklet over to år, med Frankrike som viktigste referanse.</a:t>
            </a:r>
            <a:endParaRPr lang="en-US" sz="1600" dirty="0"/>
          </a:p>
          <a:p>
            <a:pPr marL="228600" indent="-228600">
              <a:spcAft>
                <a:spcPts val="1000"/>
              </a:spcAft>
              <a:buSzPct val="100000"/>
              <a:buChar char="•"/>
            </a:pPr>
            <a:r>
              <a:rPr lang="en-US" sz="1600" dirty="0">
                <a:solidFill>
                  <a:schemeClr val="bg1"/>
                </a:solidFill>
              </a:rPr>
              <a:t>Gjennomføres for første gang i år.</a:t>
            </a:r>
            <a:endParaRPr lang="en-US" sz="1600" dirty="0"/>
          </a:p>
          <a:p>
            <a:pPr marL="228600" indent="-228600">
              <a:spcAft>
                <a:spcPts val="1000"/>
              </a:spcAft>
              <a:buSzPct val="100000"/>
              <a:buChar char="•"/>
            </a:pPr>
            <a:r>
              <a:rPr lang="en-US" sz="1600" dirty="0">
                <a:solidFill>
                  <a:schemeClr val="bg1"/>
                </a:solidFill>
              </a:rPr>
              <a:t>Et klubbesøk i hver klubb, der et overordnet kriteriesett vurderer strukturene for spillerutvikling.</a:t>
            </a:r>
            <a:endParaRPr lang="en-US" sz="1600" dirty="0"/>
          </a:p>
          <a:p>
            <a:pPr marL="228600" indent="-228600">
              <a:spcAft>
                <a:spcPts val="1000"/>
              </a:spcAft>
              <a:buSzPct val="100000"/>
              <a:buChar char="•"/>
            </a:pPr>
            <a:r>
              <a:rPr lang="en-US" sz="1600" dirty="0">
                <a:solidFill>
                  <a:schemeClr val="bg1"/>
                </a:solidFill>
              </a:rPr>
              <a:t>Besøkene fordeles på fire personer: de tre i technical department og generalsekretær Khalid Mghafri.</a:t>
            </a:r>
            <a:endParaRPr lang="en-US" sz="16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Nasjonale aldersbestemte serier</a:t>
            </a:r>
            <a:endParaRPr lang="en-US" sz="3200" dirty="0"/>
          </a:p>
        </p:txBody>
      </p:sp>
      <p:sp>
        <p:nvSpPr>
          <p:cNvPr id="3" name="Aldersgruppe U15"/>
          <p:cNvSpPr/>
          <p:nvPr/>
        </p:nvSpPr>
        <p:spPr>
          <a:xfrm>
            <a:off x="685800" y="1508760"/>
            <a:ext cx="1051560" cy="566928"/>
          </a:xfrm>
          <a:prstGeom prst="roundRect">
            <a:avLst>
              <a:gd name="adj" fmla="val 16129"/>
            </a:avLst>
          </a:prstGeom>
          <a:solidFill>
            <a:schemeClr val="tx2"/>
          </a:solidFill>
          <a:ln w="12700">
            <a:solidFill>
              <a:schemeClr val="accent1"/>
            </a:solidFill>
            <a:prstDash val="solid"/>
          </a:ln>
        </p:spPr>
      </p:sp>
      <p:sp>
        <p:nvSpPr>
          <p:cNvPr id="4" name="Tekst U15"/>
          <p:cNvSpPr txBox="1"/>
          <p:nvPr/>
        </p:nvSpPr>
        <p:spPr>
          <a:xfrm>
            <a:off x="685800" y="1508760"/>
            <a:ext cx="1051560" cy="566928"/>
          </a:xfrm>
          <a:prstGeom prst="rect">
            <a:avLst/>
          </a:prstGeom>
          <a:noFill/>
          <a:ln/>
        </p:spPr>
        <p:txBody>
          <a:bodyPr wrap="square" lIns="0" tIns="0" rIns="0" bIns="0" rtlCol="0" anchor="ctr"/>
          <a:lstStyle/>
          <a:p>
            <a:pPr algn="ctr" indent="0" marL="0">
              <a:buNone/>
            </a:pPr>
            <a:r>
              <a:rPr lang="en-US" sz="1800" b="1" dirty="0">
                <a:solidFill>
                  <a:schemeClr val="accent1"/>
                </a:solidFill>
              </a:rPr>
              <a:t>U15</a:t>
            </a:r>
            <a:endParaRPr lang="en-US" sz="1800" dirty="0"/>
          </a:p>
        </p:txBody>
      </p:sp>
      <p:sp>
        <p:nvSpPr>
          <p:cNvPr id="5" name="Aldersgruppe U16"/>
          <p:cNvSpPr/>
          <p:nvPr/>
        </p:nvSpPr>
        <p:spPr>
          <a:xfrm>
            <a:off x="1920240" y="1508760"/>
            <a:ext cx="1051560" cy="566928"/>
          </a:xfrm>
          <a:prstGeom prst="roundRect">
            <a:avLst>
              <a:gd name="adj" fmla="val 16129"/>
            </a:avLst>
          </a:prstGeom>
          <a:solidFill>
            <a:schemeClr val="tx2"/>
          </a:solidFill>
          <a:ln w="12700">
            <a:solidFill>
              <a:schemeClr val="accent1"/>
            </a:solidFill>
            <a:prstDash val="solid"/>
          </a:ln>
        </p:spPr>
      </p:sp>
      <p:sp>
        <p:nvSpPr>
          <p:cNvPr id="6" name="Tekst U16"/>
          <p:cNvSpPr txBox="1"/>
          <p:nvPr/>
        </p:nvSpPr>
        <p:spPr>
          <a:xfrm>
            <a:off x="1920240" y="1508760"/>
            <a:ext cx="1051560" cy="566928"/>
          </a:xfrm>
          <a:prstGeom prst="rect">
            <a:avLst/>
          </a:prstGeom>
          <a:noFill/>
          <a:ln/>
        </p:spPr>
        <p:txBody>
          <a:bodyPr wrap="square" lIns="0" tIns="0" rIns="0" bIns="0" rtlCol="0" anchor="ctr"/>
          <a:lstStyle/>
          <a:p>
            <a:pPr algn="ctr" indent="0" marL="0">
              <a:buNone/>
            </a:pPr>
            <a:r>
              <a:rPr lang="en-US" sz="1800" b="1" dirty="0">
                <a:solidFill>
                  <a:schemeClr val="accent1"/>
                </a:solidFill>
              </a:rPr>
              <a:t>U16</a:t>
            </a:r>
            <a:endParaRPr lang="en-US" sz="1800" dirty="0"/>
          </a:p>
        </p:txBody>
      </p:sp>
      <p:sp>
        <p:nvSpPr>
          <p:cNvPr id="7" name="Aldersgruppe U17"/>
          <p:cNvSpPr/>
          <p:nvPr/>
        </p:nvSpPr>
        <p:spPr>
          <a:xfrm>
            <a:off x="3154680" y="1508760"/>
            <a:ext cx="1051560" cy="566928"/>
          </a:xfrm>
          <a:prstGeom prst="roundRect">
            <a:avLst>
              <a:gd name="adj" fmla="val 16129"/>
            </a:avLst>
          </a:prstGeom>
          <a:solidFill>
            <a:schemeClr val="tx2"/>
          </a:solidFill>
          <a:ln w="12700">
            <a:solidFill>
              <a:schemeClr val="accent1"/>
            </a:solidFill>
            <a:prstDash val="solid"/>
          </a:ln>
        </p:spPr>
      </p:sp>
      <p:sp>
        <p:nvSpPr>
          <p:cNvPr id="8" name="Tekst U17"/>
          <p:cNvSpPr txBox="1"/>
          <p:nvPr/>
        </p:nvSpPr>
        <p:spPr>
          <a:xfrm>
            <a:off x="3154680" y="1508760"/>
            <a:ext cx="1051560" cy="566928"/>
          </a:xfrm>
          <a:prstGeom prst="rect">
            <a:avLst/>
          </a:prstGeom>
          <a:noFill/>
          <a:ln/>
        </p:spPr>
        <p:txBody>
          <a:bodyPr wrap="square" lIns="0" tIns="0" rIns="0" bIns="0" rtlCol="0" anchor="ctr"/>
          <a:lstStyle/>
          <a:p>
            <a:pPr algn="ctr" indent="0" marL="0">
              <a:buNone/>
            </a:pPr>
            <a:r>
              <a:rPr lang="en-US" sz="1800" b="1" dirty="0">
                <a:solidFill>
                  <a:schemeClr val="accent1"/>
                </a:solidFill>
              </a:rPr>
              <a:t>U17</a:t>
            </a:r>
            <a:endParaRPr lang="en-US" sz="1800" dirty="0"/>
          </a:p>
        </p:txBody>
      </p:sp>
      <p:sp>
        <p:nvSpPr>
          <p:cNvPr id="9" name="Aldersgruppe U18"/>
          <p:cNvSpPr/>
          <p:nvPr/>
        </p:nvSpPr>
        <p:spPr>
          <a:xfrm>
            <a:off x="4389120" y="1508760"/>
            <a:ext cx="1051560" cy="566928"/>
          </a:xfrm>
          <a:prstGeom prst="roundRect">
            <a:avLst>
              <a:gd name="adj" fmla="val 16129"/>
            </a:avLst>
          </a:prstGeom>
          <a:solidFill>
            <a:schemeClr val="tx2"/>
          </a:solidFill>
          <a:ln w="12700">
            <a:solidFill>
              <a:schemeClr val="accent1"/>
            </a:solidFill>
            <a:prstDash val="solid"/>
          </a:ln>
        </p:spPr>
      </p:sp>
      <p:sp>
        <p:nvSpPr>
          <p:cNvPr id="10" name="Tekst U18"/>
          <p:cNvSpPr txBox="1"/>
          <p:nvPr/>
        </p:nvSpPr>
        <p:spPr>
          <a:xfrm>
            <a:off x="4389120" y="1508760"/>
            <a:ext cx="1051560" cy="566928"/>
          </a:xfrm>
          <a:prstGeom prst="rect">
            <a:avLst/>
          </a:prstGeom>
          <a:noFill/>
          <a:ln/>
        </p:spPr>
        <p:txBody>
          <a:bodyPr wrap="square" lIns="0" tIns="0" rIns="0" bIns="0" rtlCol="0" anchor="ctr"/>
          <a:lstStyle/>
          <a:p>
            <a:pPr algn="ctr" indent="0" marL="0">
              <a:buNone/>
            </a:pPr>
            <a:r>
              <a:rPr lang="en-US" sz="1800" b="1" dirty="0">
                <a:solidFill>
                  <a:schemeClr val="accent1"/>
                </a:solidFill>
              </a:rPr>
              <a:t>U18</a:t>
            </a:r>
            <a:endParaRPr lang="en-US" sz="1800" dirty="0"/>
          </a:p>
        </p:txBody>
      </p:sp>
      <p:sp>
        <p:nvSpPr>
          <p:cNvPr id="11" name="Aldersgruppe U21"/>
          <p:cNvSpPr/>
          <p:nvPr/>
        </p:nvSpPr>
        <p:spPr>
          <a:xfrm>
            <a:off x="5623560" y="1508760"/>
            <a:ext cx="1051560" cy="566928"/>
          </a:xfrm>
          <a:prstGeom prst="roundRect">
            <a:avLst>
              <a:gd name="adj" fmla="val 16129"/>
            </a:avLst>
          </a:prstGeom>
          <a:solidFill>
            <a:schemeClr val="tx2"/>
          </a:solidFill>
          <a:ln w="12700">
            <a:solidFill>
              <a:schemeClr val="accent1"/>
            </a:solidFill>
            <a:prstDash val="solid"/>
          </a:ln>
        </p:spPr>
      </p:sp>
      <p:sp>
        <p:nvSpPr>
          <p:cNvPr id="12" name="Tekst U21"/>
          <p:cNvSpPr txBox="1"/>
          <p:nvPr/>
        </p:nvSpPr>
        <p:spPr>
          <a:xfrm>
            <a:off x="5623560" y="1508760"/>
            <a:ext cx="1051560" cy="566928"/>
          </a:xfrm>
          <a:prstGeom prst="rect">
            <a:avLst/>
          </a:prstGeom>
          <a:noFill/>
          <a:ln/>
        </p:spPr>
        <p:txBody>
          <a:bodyPr wrap="square" lIns="0" tIns="0" rIns="0" bIns="0" rtlCol="0" anchor="ctr"/>
          <a:lstStyle/>
          <a:p>
            <a:pPr algn="ctr" indent="0" marL="0">
              <a:buNone/>
            </a:pPr>
            <a:r>
              <a:rPr lang="en-US" sz="1800" b="1" dirty="0">
                <a:solidFill>
                  <a:schemeClr val="accent1"/>
                </a:solidFill>
              </a:rPr>
              <a:t>U21</a:t>
            </a:r>
            <a:endParaRPr lang="en-US" sz="1800" dirty="0"/>
          </a:p>
        </p:txBody>
      </p:sp>
      <p:sp>
        <p:nvSpPr>
          <p:cNvPr id="13" name="Tall 44"/>
          <p:cNvSpPr txBox="1"/>
          <p:nvPr/>
        </p:nvSpPr>
        <p:spPr>
          <a:xfrm>
            <a:off x="685800" y="2514600"/>
            <a:ext cx="329184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44</a:t>
            </a:r>
            <a:endParaRPr lang="en-US" sz="6600" dirty="0"/>
          </a:p>
        </p:txBody>
      </p:sp>
      <p:sp>
        <p:nvSpPr>
          <p:cNvPr id="14" name="Etikett 44"/>
          <p:cNvSpPr txBox="1"/>
          <p:nvPr/>
        </p:nvSpPr>
        <p:spPr>
          <a:xfrm>
            <a:off x="685800" y="3429000"/>
            <a:ext cx="3291840" cy="731520"/>
          </a:xfrm>
          <a:prstGeom prst="rect">
            <a:avLst/>
          </a:prstGeom>
          <a:noFill/>
          <a:ln/>
        </p:spPr>
        <p:txBody>
          <a:bodyPr wrap="square" lIns="0" tIns="0" rIns="0" bIns="0" rtlCol="0" anchor="t"/>
          <a:lstStyle/>
          <a:p>
            <a:pPr indent="0" marL="0">
              <a:buNone/>
            </a:pPr>
            <a:r>
              <a:rPr lang="en-US" sz="1500" dirty="0">
                <a:solidFill>
                  <a:schemeClr val="bg1"/>
                </a:solidFill>
              </a:rPr>
              <a:t>klubber og lag deltar</a:t>
            </a:r>
            <a:endParaRPr lang="en-US" sz="1500" dirty="0"/>
          </a:p>
        </p:txBody>
      </p:sp>
      <p:sp>
        <p:nvSpPr>
          <p:cNvPr id="15" name="Tall 30"/>
          <p:cNvSpPr txBox="1"/>
          <p:nvPr/>
        </p:nvSpPr>
        <p:spPr>
          <a:xfrm>
            <a:off x="4343400" y="2514600"/>
            <a:ext cx="329184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30</a:t>
            </a:r>
            <a:endParaRPr lang="en-US" sz="6600" dirty="0"/>
          </a:p>
        </p:txBody>
      </p:sp>
      <p:sp>
        <p:nvSpPr>
          <p:cNvPr id="16" name="Etikett 30"/>
          <p:cNvSpPr txBox="1"/>
          <p:nvPr/>
        </p:nvSpPr>
        <p:spPr>
          <a:xfrm>
            <a:off x="4343400" y="3429000"/>
            <a:ext cx="3291840" cy="731520"/>
          </a:xfrm>
          <a:prstGeom prst="rect">
            <a:avLst/>
          </a:prstGeom>
          <a:noFill/>
          <a:ln/>
        </p:spPr>
        <p:txBody>
          <a:bodyPr wrap="square" lIns="0" tIns="0" rIns="0" bIns="0" rtlCol="0" anchor="t"/>
          <a:lstStyle/>
          <a:p>
            <a:pPr indent="0" marL="0">
              <a:buNone/>
            </a:pPr>
            <a:r>
              <a:rPr lang="en-US" sz="1500" dirty="0">
                <a:solidFill>
                  <a:schemeClr val="bg1"/>
                </a:solidFill>
              </a:rPr>
              <a:t>nasjonale kamper i året per lag</a:t>
            </a:r>
            <a:endParaRPr lang="en-US" sz="1500" dirty="0"/>
          </a:p>
        </p:txBody>
      </p:sp>
      <p:sp>
        <p:nvSpPr>
          <p:cNvPr id="17" name="Tall 100"/>
          <p:cNvSpPr txBox="1"/>
          <p:nvPr/>
        </p:nvSpPr>
        <p:spPr>
          <a:xfrm>
            <a:off x="8001000" y="2514600"/>
            <a:ext cx="3291840" cy="868680"/>
          </a:xfrm>
          <a:prstGeom prst="rect">
            <a:avLst/>
          </a:prstGeom>
          <a:noFill/>
          <a:ln/>
        </p:spPr>
        <p:txBody>
          <a:bodyPr wrap="square" lIns="0" tIns="0" rIns="0" bIns="0" rtlCol="0" anchor="b"/>
          <a:lstStyle/>
          <a:p>
            <a:pPr indent="0" marL="0">
              <a:buNone/>
            </a:pPr>
            <a:r>
              <a:rPr lang="en-US" sz="6600" b="1" dirty="0">
                <a:solidFill>
                  <a:schemeClr val="accent1"/>
                </a:solidFill>
                <a:latin typeface="Aref Ruqaa" pitchFamily="34" charset="0"/>
                <a:ea typeface="Aref Ruqaa" pitchFamily="34" charset="-122"/>
                <a:cs typeface="Aref Ruqaa" pitchFamily="34" charset="-120"/>
              </a:rPr>
              <a:t>100</a:t>
            </a:r>
            <a:endParaRPr lang="en-US" sz="6600" dirty="0"/>
          </a:p>
        </p:txBody>
      </p:sp>
      <p:sp>
        <p:nvSpPr>
          <p:cNvPr id="18" name="Etikett 100"/>
          <p:cNvSpPr txBox="1"/>
          <p:nvPr/>
        </p:nvSpPr>
        <p:spPr>
          <a:xfrm>
            <a:off x="8001000" y="3429000"/>
            <a:ext cx="3291840" cy="731520"/>
          </a:xfrm>
          <a:prstGeom prst="rect">
            <a:avLst/>
          </a:prstGeom>
          <a:noFill/>
          <a:ln/>
        </p:spPr>
        <p:txBody>
          <a:bodyPr wrap="square" lIns="0" tIns="0" rIns="0" bIns="0" rtlCol="0" anchor="t"/>
          <a:lstStyle/>
          <a:p>
            <a:pPr indent="0" marL="0">
              <a:buNone/>
            </a:pPr>
            <a:r>
              <a:rPr lang="en-US" sz="1500" dirty="0">
                <a:solidFill>
                  <a:schemeClr val="bg1"/>
                </a:solidFill>
              </a:rPr>
              <a:t>aldersbestemte seriekamper hver uke</a:t>
            </a:r>
            <a:endParaRPr lang="en-US" sz="1500" dirty="0"/>
          </a:p>
        </p:txBody>
      </p:sp>
      <p:sp>
        <p:nvSpPr>
          <p:cNvPr id="19" name="Deltakere"/>
          <p:cNvSpPr txBox="1"/>
          <p:nvPr/>
        </p:nvSpPr>
        <p:spPr>
          <a:xfrm>
            <a:off x="685800" y="4754880"/>
            <a:ext cx="10424160" cy="914400"/>
          </a:xfrm>
          <a:prstGeom prst="rect">
            <a:avLst/>
          </a:prstGeom>
          <a:noFill/>
          <a:ln/>
        </p:spPr>
        <p:txBody>
          <a:bodyPr wrap="square" lIns="0" tIns="0" rIns="0" bIns="0" rtlCol="0" anchor="t"/>
          <a:lstStyle/>
          <a:p>
            <a:pPr indent="0" marL="0">
              <a:buNone/>
            </a:pPr>
            <a:r>
              <a:rPr lang="en-US" sz="1500" dirty="0">
                <a:solidFill>
                  <a:schemeClr val="bg2"/>
                </a:solidFill>
              </a:rPr>
              <a:t>Deltakerne er de 32 toppklubbene, de regionale forbundssentrene, Mohammed VI-akademiet og de beste amatørklubbene som har godkjent utviklingsavdeling og kan stille lag i flere aldersgrupper.</a:t>
            </a:r>
            <a:endParaRPr lang="en-US" sz="15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Suksesskriterier i marokkansk fotball</a:t>
            </a:r>
            <a:endParaRPr lang="en-US" sz="3200" dirty="0"/>
          </a:p>
        </p:txBody>
      </p:sp>
      <p:pic>
        <p:nvPicPr>
          <p:cNvPr id="3" name="Stjerne" descr="Stjerne fra Marokkos flagg">    </p:cNvPr>
          <p:cNvPicPr>
            <a:picLocks noChangeAspect="1"/>
          </p:cNvPicPr>
          <p:nvPr/>
        </p:nvPicPr>
        <p:blipFill>
          <a:blip r:embed="rId1"/>
          <a:stretch>
            <a:fillRect/>
          </a:stretch>
        </p:blipFill>
        <p:spPr>
          <a:xfrm>
            <a:off x="685800" y="2011680"/>
            <a:ext cx="457200" cy="435102"/>
          </a:xfrm>
          <a:prstGeom prst="rect">
            <a:avLst/>
          </a:prstGeom>
        </p:spPr>
      </p:pic>
      <p:sp>
        <p:nvSpPr>
          <p:cNvPr id="4" name="Kriterium 1"/>
          <p:cNvSpPr txBox="1"/>
          <p:nvPr/>
        </p:nvSpPr>
        <p:spPr>
          <a:xfrm>
            <a:off x="685800" y="2651760"/>
            <a:ext cx="3291840" cy="1280160"/>
          </a:xfrm>
          <a:prstGeom prst="rect">
            <a:avLst/>
          </a:prstGeom>
          <a:noFill/>
          <a:ln/>
        </p:spPr>
        <p:txBody>
          <a:bodyPr wrap="square" lIns="0" tIns="0" rIns="0" bIns="0" rtlCol="0" anchor="t"/>
          <a:lstStyle/>
          <a:p>
            <a:pPr indent="0" marL="0">
              <a:buNone/>
            </a:pPr>
            <a:r>
              <a:rPr lang="en-US" sz="3600" b="1" dirty="0">
                <a:solidFill>
                  <a:schemeClr val="bg1"/>
                </a:solidFill>
                <a:latin typeface="Aref Ruqaa" pitchFamily="34" charset="0"/>
                <a:ea typeface="Aref Ruqaa" pitchFamily="34" charset="-122"/>
                <a:cs typeface="Aref Ruqaa" pitchFamily="34" charset="-120"/>
              </a:rPr>
              <a:t>Patience</a:t>
            </a:r>
            <a:endParaRPr lang="en-US" sz="3600" dirty="0"/>
          </a:p>
        </p:txBody>
      </p:sp>
      <p:pic>
        <p:nvPicPr>
          <p:cNvPr id="5" name="Stjerne" descr="Stjerne fra Marokkos flagg">    </p:cNvPr>
          <p:cNvPicPr>
            <a:picLocks noChangeAspect="1"/>
          </p:cNvPicPr>
          <p:nvPr/>
        </p:nvPicPr>
        <p:blipFill>
          <a:blip r:embed="rId2"/>
          <a:stretch>
            <a:fillRect/>
          </a:stretch>
        </p:blipFill>
        <p:spPr>
          <a:xfrm>
            <a:off x="4343400" y="2011680"/>
            <a:ext cx="457200" cy="435102"/>
          </a:xfrm>
          <a:prstGeom prst="rect">
            <a:avLst/>
          </a:prstGeom>
        </p:spPr>
      </p:pic>
      <p:sp>
        <p:nvSpPr>
          <p:cNvPr id="6" name="Kriterium 2"/>
          <p:cNvSpPr txBox="1"/>
          <p:nvPr/>
        </p:nvSpPr>
        <p:spPr>
          <a:xfrm>
            <a:off x="4343400" y="2651760"/>
            <a:ext cx="3291840" cy="1280160"/>
          </a:xfrm>
          <a:prstGeom prst="rect">
            <a:avLst/>
          </a:prstGeom>
          <a:noFill/>
          <a:ln/>
        </p:spPr>
        <p:txBody>
          <a:bodyPr wrap="square" lIns="0" tIns="0" rIns="0" bIns="0" rtlCol="0" anchor="t"/>
          <a:lstStyle/>
          <a:p>
            <a:pPr indent="0" marL="0">
              <a:buNone/>
            </a:pPr>
            <a:r>
              <a:rPr lang="en-US" sz="3600" b="1" dirty="0">
                <a:solidFill>
                  <a:schemeClr val="bg1"/>
                </a:solidFill>
                <a:latin typeface="Aref Ruqaa" pitchFamily="34" charset="0"/>
                <a:ea typeface="Aref Ruqaa" pitchFamily="34" charset="-122"/>
                <a:cs typeface="Aref Ruqaa" pitchFamily="34" charset="-120"/>
              </a:rPr>
              <a:t>Mindset for change</a:t>
            </a:r>
            <a:endParaRPr lang="en-US" sz="3600" dirty="0"/>
          </a:p>
        </p:txBody>
      </p:sp>
      <p:pic>
        <p:nvPicPr>
          <p:cNvPr id="7" name="Stjerne" descr="Stjerne fra Marokkos flagg">    </p:cNvPr>
          <p:cNvPicPr>
            <a:picLocks noChangeAspect="1"/>
          </p:cNvPicPr>
          <p:nvPr/>
        </p:nvPicPr>
        <p:blipFill>
          <a:blip r:embed="rId3"/>
          <a:stretch>
            <a:fillRect/>
          </a:stretch>
        </p:blipFill>
        <p:spPr>
          <a:xfrm>
            <a:off x="8001000" y="2011680"/>
            <a:ext cx="457200" cy="435102"/>
          </a:xfrm>
          <a:prstGeom prst="rect">
            <a:avLst/>
          </a:prstGeom>
        </p:spPr>
      </p:pic>
      <p:sp>
        <p:nvSpPr>
          <p:cNvPr id="8" name="Kriterium 3"/>
          <p:cNvSpPr txBox="1"/>
          <p:nvPr/>
        </p:nvSpPr>
        <p:spPr>
          <a:xfrm>
            <a:off x="8001000" y="2651760"/>
            <a:ext cx="3291840" cy="1280160"/>
          </a:xfrm>
          <a:prstGeom prst="rect">
            <a:avLst/>
          </a:prstGeom>
          <a:noFill/>
          <a:ln/>
        </p:spPr>
        <p:txBody>
          <a:bodyPr wrap="square" lIns="0" tIns="0" rIns="0" bIns="0" rtlCol="0" anchor="t"/>
          <a:lstStyle/>
          <a:p>
            <a:pPr indent="0" marL="0">
              <a:buNone/>
            </a:pPr>
            <a:r>
              <a:rPr lang="en-US" sz="3600" b="1" dirty="0">
                <a:solidFill>
                  <a:schemeClr val="bg1"/>
                </a:solidFill>
                <a:latin typeface="Aref Ruqaa" pitchFamily="34" charset="0"/>
                <a:ea typeface="Aref Ruqaa" pitchFamily="34" charset="-122"/>
                <a:cs typeface="Aref Ruqaa" pitchFamily="34" charset="-120"/>
              </a:rPr>
              <a:t>Good people</a:t>
            </a:r>
            <a:endParaRPr lang="en-US" sz="3600" dirty="0"/>
          </a:p>
        </p:txBody>
      </p:sp>
      <p:sp>
        <p:nvSpPr>
          <p:cNvPr id="9" name="Kilde sitat"/>
          <p:cNvSpPr txBox="1"/>
          <p:nvPr/>
        </p:nvSpPr>
        <p:spPr>
          <a:xfrm>
            <a:off x="685800" y="4754880"/>
            <a:ext cx="7315200" cy="365760"/>
          </a:xfrm>
          <a:prstGeom prst="rect">
            <a:avLst/>
          </a:prstGeom>
          <a:noFill/>
          <a:ln/>
        </p:spPr>
        <p:txBody>
          <a:bodyPr wrap="square" lIns="0" tIns="0" rIns="0" bIns="0" rtlCol="0" anchor="ctr"/>
          <a:lstStyle/>
          <a:p>
            <a:pPr indent="0" marL="0">
              <a:buNone/>
            </a:pPr>
            <a:r>
              <a:rPr lang="en-US" sz="1500" i="1" dirty="0">
                <a:solidFill>
                  <a:schemeClr val="bg2"/>
                </a:solidFill>
              </a:rPr>
              <a:t>Khalid Mghafri, generalsekretær i LNFP</a:t>
            </a:r>
            <a:endParaRPr lang="en-US" sz="15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Kart" descr="Lokalkart over Rabat og Salé med Academie Mohammed VI de Football markert">    </p:cNvPr>
          <p:cNvPicPr>
            <a:picLocks noChangeAspect="1"/>
          </p:cNvPicPr>
          <p:nvPr/>
        </p:nvPicPr>
        <p:blipFill>
          <a:blip r:embed="rId1"/>
          <a:stretch>
            <a:fillRect/>
          </a:stretch>
        </p:blipFill>
        <p:spPr>
          <a:xfrm>
            <a:off x="4632844" y="0"/>
            <a:ext cx="7558851" cy="6858000"/>
          </a:xfrm>
          <a:prstGeom prst="rect">
            <a:avLst/>
          </a:prstGeom>
        </p:spPr>
      </p:pic>
      <p:pic>
        <p:nvPicPr>
          <p:cNvPr id="3" name="Stjerne" descr="Stjerne fra Marokkos flagg">    </p:cNvPr>
          <p:cNvPicPr>
            <a:picLocks noChangeAspect="1"/>
          </p:cNvPicPr>
          <p:nvPr/>
        </p:nvPicPr>
        <p:blipFill>
          <a:blip r:embed="rId2"/>
          <a:stretch>
            <a:fillRect/>
          </a:stretch>
        </p:blipFill>
        <p:spPr>
          <a:xfrm>
            <a:off x="685800" y="1783080"/>
            <a:ext cx="566928" cy="539526"/>
          </a:xfrm>
          <a:prstGeom prst="rect">
            <a:avLst/>
          </a:prstGeom>
        </p:spPr>
      </p:pic>
      <p:sp>
        <p:nvSpPr>
          <p:cNvPr id="4" name="Text 0"/>
          <p:cNvSpPr/>
          <p:nvPr>
            <p:ph idx="100" type="title" hasCustomPrompt="1"/>
          </p:nvPr>
        </p:nvSpPr>
        <p:spPr>
          <a:xfrm>
            <a:off x="685800" y="2697480"/>
            <a:ext cx="49377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Aref Ruqaa" pitchFamily="34" charset="0"/>
                <a:ea typeface="Aref Ruqaa" pitchFamily="34" charset="-122"/>
                <a:cs typeface="Aref Ruqaa" pitchFamily="34" charset="-120"/>
              </a:rPr>
              <a:t>Academie Mohammed VI de Football</a:t>
            </a:r>
            <a:endParaRPr lang="en-US" sz="4000" dirty="0"/>
          </a:p>
        </p:txBody>
      </p:sp>
      <p:sp>
        <p:nvSpPr>
          <p:cNvPr id="5" name="Text 0"/>
          <p:cNvSpPr/>
          <p:nvPr>
            <p:ph idx="101" type="body" hasCustomPrompt="1"/>
          </p:nvPr>
        </p:nvSpPr>
        <p:spPr>
          <a:xfrm>
            <a:off x="685800" y="4754880"/>
            <a:ext cx="4572000" cy="1280160"/>
          </a:xfrm>
          <a:prstGeom prst="rect">
            <a:avLst/>
          </a:prstGeom>
          <a:noFill/>
          <a:ln/>
        </p:spPr>
        <p:txBody>
          <a:bodyPr wrap="square" lIns="0" tIns="0" rIns="0" bIns="0"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Selvstendig, utenfor forbundsstrukturen og uten eget A-lag – anerkjent som det beste utviklingsmiljøet for gutter i Marokko.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Landslagsspillere fra akademiet</a:t>
            </a:r>
            <a:endParaRPr lang="en-US" sz="3200" dirty="0"/>
          </a:p>
        </p:txBody>
      </p:sp>
      <p:sp>
        <p:nvSpPr>
          <p:cNvPr id="3" name="Kort Nayef Aguerd"/>
          <p:cNvSpPr/>
          <p:nvPr/>
        </p:nvSpPr>
        <p:spPr>
          <a:xfrm>
            <a:off x="685800" y="1600200"/>
            <a:ext cx="3017520" cy="1143000"/>
          </a:xfrm>
          <a:prstGeom prst="roundRect">
            <a:avLst>
              <a:gd name="adj" fmla="val 9600"/>
            </a:avLst>
          </a:prstGeom>
          <a:solidFill>
            <a:schemeClr val="tx2"/>
          </a:solidFill>
          <a:ln/>
        </p:spPr>
      </p:sp>
      <p:pic>
        <p:nvPicPr>
          <p:cNvPr id="4" name="Stjerne" descr="Stjerne fra Marokkos flagg">    </p:cNvPr>
          <p:cNvPicPr>
            <a:picLocks noChangeAspect="1"/>
          </p:cNvPicPr>
          <p:nvPr/>
        </p:nvPicPr>
        <p:blipFill>
          <a:blip r:embed="rId1"/>
          <a:stretch>
            <a:fillRect/>
          </a:stretch>
        </p:blipFill>
        <p:spPr>
          <a:xfrm>
            <a:off x="960120" y="1984248"/>
            <a:ext cx="384048" cy="365486"/>
          </a:xfrm>
          <a:prstGeom prst="rect">
            <a:avLst/>
          </a:prstGeom>
        </p:spPr>
      </p:pic>
      <p:sp>
        <p:nvSpPr>
          <p:cNvPr id="5" name="Nayef Aguerd"/>
          <p:cNvSpPr txBox="1"/>
          <p:nvPr/>
        </p:nvSpPr>
        <p:spPr>
          <a:xfrm>
            <a:off x="1508760" y="1600200"/>
            <a:ext cx="2103120" cy="1143000"/>
          </a:xfrm>
          <a:prstGeom prst="rect">
            <a:avLst/>
          </a:prstGeom>
          <a:noFill/>
          <a:ln/>
        </p:spPr>
        <p:txBody>
          <a:bodyPr wrap="square" lIns="0" tIns="0" rIns="0" bIns="0" rtlCol="0" anchor="ctr"/>
          <a:lstStyle/>
          <a:p>
            <a:pPr indent="0" marL="0">
              <a:buNone/>
            </a:pPr>
            <a:r>
              <a:rPr lang="en-US" sz="2000" b="1" dirty="0">
                <a:solidFill>
                  <a:schemeClr val="bg1"/>
                </a:solidFill>
                <a:latin typeface="Aref Ruqaa" pitchFamily="34" charset="0"/>
                <a:ea typeface="Aref Ruqaa" pitchFamily="34" charset="-122"/>
                <a:cs typeface="Aref Ruqaa" pitchFamily="34" charset="-120"/>
              </a:rPr>
              <a:t>Nayef Aguerd</a:t>
            </a:r>
            <a:endParaRPr lang="en-US" sz="2000" dirty="0"/>
          </a:p>
        </p:txBody>
      </p:sp>
      <p:sp>
        <p:nvSpPr>
          <p:cNvPr id="6" name="Kort Youssef En-Nesyri"/>
          <p:cNvSpPr/>
          <p:nvPr/>
        </p:nvSpPr>
        <p:spPr>
          <a:xfrm>
            <a:off x="3931920" y="1600200"/>
            <a:ext cx="3017520" cy="1143000"/>
          </a:xfrm>
          <a:prstGeom prst="roundRect">
            <a:avLst>
              <a:gd name="adj" fmla="val 9600"/>
            </a:avLst>
          </a:prstGeom>
          <a:solidFill>
            <a:schemeClr val="tx2"/>
          </a:solidFill>
          <a:ln/>
        </p:spPr>
      </p:sp>
      <p:pic>
        <p:nvPicPr>
          <p:cNvPr id="7" name="Stjerne" descr="Stjerne fra Marokkos flagg">    </p:cNvPr>
          <p:cNvPicPr>
            <a:picLocks noChangeAspect="1"/>
          </p:cNvPicPr>
          <p:nvPr/>
        </p:nvPicPr>
        <p:blipFill>
          <a:blip r:embed="rId2"/>
          <a:stretch>
            <a:fillRect/>
          </a:stretch>
        </p:blipFill>
        <p:spPr>
          <a:xfrm>
            <a:off x="4206240" y="1984248"/>
            <a:ext cx="384048" cy="365486"/>
          </a:xfrm>
          <a:prstGeom prst="rect">
            <a:avLst/>
          </a:prstGeom>
        </p:spPr>
      </p:pic>
      <p:sp>
        <p:nvSpPr>
          <p:cNvPr id="8" name="Youssef En-Nesyri"/>
          <p:cNvSpPr txBox="1"/>
          <p:nvPr/>
        </p:nvSpPr>
        <p:spPr>
          <a:xfrm>
            <a:off x="4754880" y="1600200"/>
            <a:ext cx="2103120" cy="1143000"/>
          </a:xfrm>
          <a:prstGeom prst="rect">
            <a:avLst/>
          </a:prstGeom>
          <a:noFill/>
          <a:ln/>
        </p:spPr>
        <p:txBody>
          <a:bodyPr wrap="square" lIns="0" tIns="0" rIns="0" bIns="0" rtlCol="0" anchor="ctr"/>
          <a:lstStyle/>
          <a:p>
            <a:pPr indent="0" marL="0">
              <a:buNone/>
            </a:pPr>
            <a:r>
              <a:rPr lang="en-US" sz="2000" b="1" dirty="0">
                <a:solidFill>
                  <a:schemeClr val="bg1"/>
                </a:solidFill>
                <a:latin typeface="Aref Ruqaa" pitchFamily="34" charset="0"/>
                <a:ea typeface="Aref Ruqaa" pitchFamily="34" charset="-122"/>
                <a:cs typeface="Aref Ruqaa" pitchFamily="34" charset="-120"/>
              </a:rPr>
              <a:t>Youssef En-Nesyri</a:t>
            </a:r>
            <a:endParaRPr lang="en-US" sz="2000" dirty="0"/>
          </a:p>
        </p:txBody>
      </p:sp>
      <p:sp>
        <p:nvSpPr>
          <p:cNvPr id="9" name="Kort Azzedine Ounahi"/>
          <p:cNvSpPr/>
          <p:nvPr/>
        </p:nvSpPr>
        <p:spPr>
          <a:xfrm>
            <a:off x="685800" y="3017520"/>
            <a:ext cx="3017520" cy="1143000"/>
          </a:xfrm>
          <a:prstGeom prst="roundRect">
            <a:avLst>
              <a:gd name="adj" fmla="val 9600"/>
            </a:avLst>
          </a:prstGeom>
          <a:solidFill>
            <a:schemeClr val="tx2"/>
          </a:solidFill>
          <a:ln/>
        </p:spPr>
      </p:sp>
      <p:pic>
        <p:nvPicPr>
          <p:cNvPr id="10" name="Stjerne" descr="Stjerne fra Marokkos flagg">    </p:cNvPr>
          <p:cNvPicPr>
            <a:picLocks noChangeAspect="1"/>
          </p:cNvPicPr>
          <p:nvPr/>
        </p:nvPicPr>
        <p:blipFill>
          <a:blip r:embed="rId3"/>
          <a:stretch>
            <a:fillRect/>
          </a:stretch>
        </p:blipFill>
        <p:spPr>
          <a:xfrm>
            <a:off x="960120" y="3401568"/>
            <a:ext cx="384048" cy="365486"/>
          </a:xfrm>
          <a:prstGeom prst="rect">
            <a:avLst/>
          </a:prstGeom>
        </p:spPr>
      </p:pic>
      <p:sp>
        <p:nvSpPr>
          <p:cNvPr id="11" name="Azzedine Ounahi"/>
          <p:cNvSpPr txBox="1"/>
          <p:nvPr/>
        </p:nvSpPr>
        <p:spPr>
          <a:xfrm>
            <a:off x="1508760" y="3017520"/>
            <a:ext cx="2103120" cy="1143000"/>
          </a:xfrm>
          <a:prstGeom prst="rect">
            <a:avLst/>
          </a:prstGeom>
          <a:noFill/>
          <a:ln/>
        </p:spPr>
        <p:txBody>
          <a:bodyPr wrap="square" lIns="0" tIns="0" rIns="0" bIns="0" rtlCol="0" anchor="ctr"/>
          <a:lstStyle/>
          <a:p>
            <a:pPr indent="0" marL="0">
              <a:buNone/>
            </a:pPr>
            <a:r>
              <a:rPr lang="en-US" sz="2000" b="1" dirty="0">
                <a:solidFill>
                  <a:schemeClr val="bg1"/>
                </a:solidFill>
                <a:latin typeface="Aref Ruqaa" pitchFamily="34" charset="0"/>
                <a:ea typeface="Aref Ruqaa" pitchFamily="34" charset="-122"/>
                <a:cs typeface="Aref Ruqaa" pitchFamily="34" charset="-120"/>
              </a:rPr>
              <a:t>Azzedine Ounahi</a:t>
            </a:r>
            <a:endParaRPr lang="en-US" sz="2000" dirty="0"/>
          </a:p>
        </p:txBody>
      </p:sp>
      <p:sp>
        <p:nvSpPr>
          <p:cNvPr id="12" name="Kort Ahmed Tagnaouti"/>
          <p:cNvSpPr/>
          <p:nvPr/>
        </p:nvSpPr>
        <p:spPr>
          <a:xfrm>
            <a:off x="3931920" y="3017520"/>
            <a:ext cx="3017520" cy="1143000"/>
          </a:xfrm>
          <a:prstGeom prst="roundRect">
            <a:avLst>
              <a:gd name="adj" fmla="val 9600"/>
            </a:avLst>
          </a:prstGeom>
          <a:solidFill>
            <a:schemeClr val="tx2"/>
          </a:solidFill>
          <a:ln/>
        </p:spPr>
      </p:sp>
      <p:pic>
        <p:nvPicPr>
          <p:cNvPr id="13" name="Stjerne" descr="Stjerne fra Marokkos flagg">    </p:cNvPr>
          <p:cNvPicPr>
            <a:picLocks noChangeAspect="1"/>
          </p:cNvPicPr>
          <p:nvPr/>
        </p:nvPicPr>
        <p:blipFill>
          <a:blip r:embed="rId4"/>
          <a:stretch>
            <a:fillRect/>
          </a:stretch>
        </p:blipFill>
        <p:spPr>
          <a:xfrm>
            <a:off x="4206240" y="3401568"/>
            <a:ext cx="384048" cy="365486"/>
          </a:xfrm>
          <a:prstGeom prst="rect">
            <a:avLst/>
          </a:prstGeom>
        </p:spPr>
      </p:pic>
      <p:sp>
        <p:nvSpPr>
          <p:cNvPr id="14" name="Ahmed Tagnaouti"/>
          <p:cNvSpPr txBox="1"/>
          <p:nvPr/>
        </p:nvSpPr>
        <p:spPr>
          <a:xfrm>
            <a:off x="4754880" y="3017520"/>
            <a:ext cx="2103120" cy="1143000"/>
          </a:xfrm>
          <a:prstGeom prst="rect">
            <a:avLst/>
          </a:prstGeom>
          <a:noFill/>
          <a:ln/>
        </p:spPr>
        <p:txBody>
          <a:bodyPr wrap="square" lIns="0" tIns="0" rIns="0" bIns="0" rtlCol="0" anchor="ctr"/>
          <a:lstStyle/>
          <a:p>
            <a:pPr indent="0" marL="0">
              <a:buNone/>
            </a:pPr>
            <a:r>
              <a:rPr lang="en-US" sz="2000" b="1" dirty="0">
                <a:solidFill>
                  <a:schemeClr val="bg1"/>
                </a:solidFill>
                <a:latin typeface="Aref Ruqaa" pitchFamily="34" charset="0"/>
                <a:ea typeface="Aref Ruqaa" pitchFamily="34" charset="-122"/>
                <a:cs typeface="Aref Ruqaa" pitchFamily="34" charset="-120"/>
              </a:rPr>
              <a:t>Ahmed Tagnaouti</a:t>
            </a:r>
            <a:endParaRPr lang="en-US" sz="2000" dirty="0"/>
          </a:p>
        </p:txBody>
      </p:sp>
      <p:sp>
        <p:nvSpPr>
          <p:cNvPr id="15" name="Merknad"/>
          <p:cNvSpPr txBox="1"/>
          <p:nvPr/>
        </p:nvSpPr>
        <p:spPr>
          <a:xfrm>
            <a:off x="685800" y="4526280"/>
            <a:ext cx="6309360" cy="457200"/>
          </a:xfrm>
          <a:prstGeom prst="rect">
            <a:avLst/>
          </a:prstGeom>
          <a:noFill/>
          <a:ln/>
        </p:spPr>
        <p:txBody>
          <a:bodyPr wrap="square" lIns="0" tIns="0" rIns="0" bIns="0" rtlCol="0" anchor="ctr"/>
          <a:lstStyle/>
          <a:p>
            <a:pPr indent="0" marL="0">
              <a:buNone/>
            </a:pPr>
            <a:r>
              <a:rPr lang="en-US" sz="1500" dirty="0">
                <a:solidFill>
                  <a:schemeClr val="bg2"/>
                </a:solidFill>
              </a:rPr>
              <a:t>I den nåværende landslagsgenerasjonen. Tagnaouti er reservekeeper.</a:t>
            </a:r>
            <a:endParaRPr lang="en-US" sz="1500" dirty="0"/>
          </a:p>
        </p:txBody>
      </p:sp>
      <p:pic>
        <p:nvPicPr>
          <p:cNvPr id="16" name="Bilde akademi-01" descr="Inngangen til akademiet">    </p:cNvPr>
          <p:cNvPicPr>
            <a:picLocks noChangeAspect="1"/>
          </p:cNvPicPr>
          <p:nvPr/>
        </p:nvPicPr>
        <p:blipFill>
          <a:blip r:embed="rId5"/>
          <a:stretch>
            <a:fillRect/>
          </a:stretch>
        </p:blipFill>
        <p:spPr>
          <a:xfrm>
            <a:off x="8092440" y="1325880"/>
            <a:ext cx="3154680" cy="4206240"/>
          </a:xfrm>
          <a:prstGeom prst="rect">
            <a:avLst/>
          </a:prstGeom>
        </p:spPr>
      </p:pic>
      <p:sp>
        <p:nvSpPr>
          <p:cNvPr id="17" name="Bildetekst akademi-01"/>
          <p:cNvSpPr txBox="1"/>
          <p:nvPr/>
        </p:nvSpPr>
        <p:spPr>
          <a:xfrm>
            <a:off x="8092440" y="5641848"/>
            <a:ext cx="3154680" cy="457200"/>
          </a:xfrm>
          <a:prstGeom prst="rect">
            <a:avLst/>
          </a:prstGeom>
          <a:noFill/>
          <a:ln/>
        </p:spPr>
        <p:txBody>
          <a:bodyPr wrap="square" lIns="0" tIns="0" rIns="0" bIns="0" rtlCol="0" anchor="t"/>
          <a:lstStyle/>
          <a:p>
            <a:pPr indent="0" marL="0">
              <a:buNone/>
            </a:pPr>
            <a:r>
              <a:rPr lang="en-US" sz="1100" dirty="0">
                <a:solidFill>
                  <a:schemeClr val="bg2"/>
                </a:solidFill>
              </a:rPr>
              <a:t>Inngangen til akademiet</a:t>
            </a:r>
            <a:endParaRPr lang="en-US" sz="11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Akademiet i tall</a:t>
            </a:r>
            <a:endParaRPr lang="en-US" sz="3200" dirty="0"/>
          </a:p>
        </p:txBody>
      </p:sp>
      <p:sp>
        <p:nvSpPr>
          <p:cNvPr id="3" name="Tall ~130"/>
          <p:cNvSpPr txBox="1"/>
          <p:nvPr/>
        </p:nvSpPr>
        <p:spPr>
          <a:xfrm>
            <a:off x="685800" y="1371600"/>
            <a:ext cx="3200400" cy="868680"/>
          </a:xfrm>
          <a:prstGeom prst="rect">
            <a:avLst/>
          </a:prstGeom>
          <a:noFill/>
          <a:ln/>
        </p:spPr>
        <p:txBody>
          <a:bodyPr wrap="square" lIns="0" tIns="0" rIns="0" bIns="0" rtlCol="0" anchor="b"/>
          <a:lstStyle/>
          <a:p>
            <a:pPr indent="0" marL="0">
              <a:buNone/>
            </a:pPr>
            <a:r>
              <a:rPr lang="en-US" sz="5400" b="1" dirty="0">
                <a:solidFill>
                  <a:schemeClr val="accent1"/>
                </a:solidFill>
                <a:latin typeface="Aref Ruqaa" pitchFamily="34" charset="0"/>
                <a:ea typeface="Aref Ruqaa" pitchFamily="34" charset="-122"/>
                <a:cs typeface="Aref Ruqaa" pitchFamily="34" charset="-120"/>
              </a:rPr>
              <a:t>~130</a:t>
            </a:r>
            <a:endParaRPr lang="en-US" sz="5400" dirty="0"/>
          </a:p>
        </p:txBody>
      </p:sp>
      <p:sp>
        <p:nvSpPr>
          <p:cNvPr id="4" name="Etikett ~130"/>
          <p:cNvSpPr txBox="1"/>
          <p:nvPr/>
        </p:nvSpPr>
        <p:spPr>
          <a:xfrm>
            <a:off x="685800" y="2286000"/>
            <a:ext cx="3200400" cy="1188720"/>
          </a:xfrm>
          <a:prstGeom prst="rect">
            <a:avLst/>
          </a:prstGeom>
          <a:noFill/>
          <a:ln/>
        </p:spPr>
        <p:txBody>
          <a:bodyPr wrap="square" lIns="0" tIns="0" rIns="0" bIns="0" rtlCol="0" anchor="t"/>
          <a:lstStyle/>
          <a:p>
            <a:pPr indent="0" marL="0">
              <a:buNone/>
            </a:pPr>
            <a:r>
              <a:rPr lang="en-US" sz="1400" dirty="0">
                <a:solidFill>
                  <a:schemeClr val="bg1"/>
                </a:solidFill>
              </a:rPr>
              <a:t>spillere i alderen 12–19 år bor på anlegget, går på skole der og har alle sportslige og medisinske fasiliteter</a:t>
            </a:r>
            <a:endParaRPr lang="en-US" sz="1400" dirty="0"/>
          </a:p>
        </p:txBody>
      </p:sp>
      <p:sp>
        <p:nvSpPr>
          <p:cNvPr id="5" name="Tall 6 + 3"/>
          <p:cNvSpPr txBox="1"/>
          <p:nvPr/>
        </p:nvSpPr>
        <p:spPr>
          <a:xfrm>
            <a:off x="4206240" y="1371600"/>
            <a:ext cx="3200400" cy="868680"/>
          </a:xfrm>
          <a:prstGeom prst="rect">
            <a:avLst/>
          </a:prstGeom>
          <a:noFill/>
          <a:ln/>
        </p:spPr>
        <p:txBody>
          <a:bodyPr wrap="square" lIns="0" tIns="0" rIns="0" bIns="0" rtlCol="0" anchor="b"/>
          <a:lstStyle/>
          <a:p>
            <a:pPr indent="0" marL="0">
              <a:buNone/>
            </a:pPr>
            <a:r>
              <a:rPr lang="en-US" sz="5400" b="1" dirty="0">
                <a:solidFill>
                  <a:schemeClr val="accent1"/>
                </a:solidFill>
                <a:latin typeface="Aref Ruqaa" pitchFamily="34" charset="0"/>
                <a:ea typeface="Aref Ruqaa" pitchFamily="34" charset="-122"/>
                <a:cs typeface="Aref Ruqaa" pitchFamily="34" charset="-120"/>
              </a:rPr>
              <a:t>6 + 3</a:t>
            </a:r>
            <a:endParaRPr lang="en-US" sz="5400" dirty="0"/>
          </a:p>
        </p:txBody>
      </p:sp>
      <p:sp>
        <p:nvSpPr>
          <p:cNvPr id="6" name="Etikett 6 + 3"/>
          <p:cNvSpPr txBox="1"/>
          <p:nvPr/>
        </p:nvSpPr>
        <p:spPr>
          <a:xfrm>
            <a:off x="4206240" y="2286000"/>
            <a:ext cx="3200400" cy="1188720"/>
          </a:xfrm>
          <a:prstGeom prst="rect">
            <a:avLst/>
          </a:prstGeom>
          <a:noFill/>
          <a:ln/>
        </p:spPr>
        <p:txBody>
          <a:bodyPr wrap="square" lIns="0" tIns="0" rIns="0" bIns="0" rtlCol="0" anchor="t"/>
          <a:lstStyle/>
          <a:p>
            <a:pPr indent="0" marL="0">
              <a:buNone/>
            </a:pPr>
            <a:r>
              <a:rPr lang="en-US" sz="1400" dirty="0">
                <a:solidFill>
                  <a:schemeClr val="bg1"/>
                </a:solidFill>
              </a:rPr>
              <a:t>baner kun for akademiet, pluss tre åpne «løkkefotballbaner» og en halv bane under tak</a:t>
            </a:r>
            <a:endParaRPr lang="en-US" sz="1400" dirty="0"/>
          </a:p>
        </p:txBody>
      </p:sp>
      <p:sp>
        <p:nvSpPr>
          <p:cNvPr id="7" name="Tall 12"/>
          <p:cNvSpPr txBox="1"/>
          <p:nvPr/>
        </p:nvSpPr>
        <p:spPr>
          <a:xfrm>
            <a:off x="685800" y="3703320"/>
            <a:ext cx="3200400" cy="868680"/>
          </a:xfrm>
          <a:prstGeom prst="rect">
            <a:avLst/>
          </a:prstGeom>
          <a:noFill/>
          <a:ln/>
        </p:spPr>
        <p:txBody>
          <a:bodyPr wrap="square" lIns="0" tIns="0" rIns="0" bIns="0" rtlCol="0" anchor="b"/>
          <a:lstStyle/>
          <a:p>
            <a:pPr indent="0" marL="0">
              <a:buNone/>
            </a:pPr>
            <a:r>
              <a:rPr lang="en-US" sz="5400" b="1" dirty="0">
                <a:solidFill>
                  <a:schemeClr val="accent1"/>
                </a:solidFill>
                <a:latin typeface="Aref Ruqaa" pitchFamily="34" charset="0"/>
                <a:ea typeface="Aref Ruqaa" pitchFamily="34" charset="-122"/>
                <a:cs typeface="Aref Ruqaa" pitchFamily="34" charset="-120"/>
              </a:rPr>
              <a:t>12</a:t>
            </a:r>
            <a:endParaRPr lang="en-US" sz="5400" dirty="0"/>
          </a:p>
        </p:txBody>
      </p:sp>
      <p:sp>
        <p:nvSpPr>
          <p:cNvPr id="8" name="Etikett 12"/>
          <p:cNvSpPr txBox="1"/>
          <p:nvPr/>
        </p:nvSpPr>
        <p:spPr>
          <a:xfrm>
            <a:off x="685800" y="4617720"/>
            <a:ext cx="3200400" cy="1188720"/>
          </a:xfrm>
          <a:prstGeom prst="rect">
            <a:avLst/>
          </a:prstGeom>
          <a:noFill/>
          <a:ln/>
        </p:spPr>
        <p:txBody>
          <a:bodyPr wrap="square" lIns="0" tIns="0" rIns="0" bIns="0" rtlCol="0" anchor="t"/>
          <a:lstStyle/>
          <a:p>
            <a:pPr indent="0" marL="0">
              <a:buNone/>
            </a:pPr>
            <a:r>
              <a:rPr lang="en-US" sz="1400" dirty="0">
                <a:solidFill>
                  <a:schemeClr val="bg1"/>
                </a:solidFill>
              </a:rPr>
              <a:t>regionale sentre med tre treninger i uka for 9–12-åringer – rekrutteringsgrunnlaget</a:t>
            </a:r>
            <a:endParaRPr lang="en-US" sz="1400" dirty="0"/>
          </a:p>
        </p:txBody>
      </p:sp>
      <p:sp>
        <p:nvSpPr>
          <p:cNvPr id="9" name="Tall €300"/>
          <p:cNvSpPr txBox="1"/>
          <p:nvPr/>
        </p:nvSpPr>
        <p:spPr>
          <a:xfrm>
            <a:off x="4206240" y="3703320"/>
            <a:ext cx="3200400" cy="868680"/>
          </a:xfrm>
          <a:prstGeom prst="rect">
            <a:avLst/>
          </a:prstGeom>
          <a:noFill/>
          <a:ln/>
        </p:spPr>
        <p:txBody>
          <a:bodyPr wrap="square" lIns="0" tIns="0" rIns="0" bIns="0" rtlCol="0" anchor="b"/>
          <a:lstStyle/>
          <a:p>
            <a:pPr indent="0" marL="0">
              <a:buNone/>
            </a:pPr>
            <a:r>
              <a:rPr lang="en-US" sz="5400" b="1" dirty="0">
                <a:solidFill>
                  <a:schemeClr val="accent1"/>
                </a:solidFill>
                <a:latin typeface="Aref Ruqaa" pitchFamily="34" charset="0"/>
                <a:ea typeface="Aref Ruqaa" pitchFamily="34" charset="-122"/>
                <a:cs typeface="Aref Ruqaa" pitchFamily="34" charset="-120"/>
              </a:rPr>
              <a:t>€300</a:t>
            </a:r>
            <a:endParaRPr lang="en-US" sz="5400" dirty="0"/>
          </a:p>
        </p:txBody>
      </p:sp>
      <p:sp>
        <p:nvSpPr>
          <p:cNvPr id="10" name="Etikett €300"/>
          <p:cNvSpPr txBox="1"/>
          <p:nvPr/>
        </p:nvSpPr>
        <p:spPr>
          <a:xfrm>
            <a:off x="4206240" y="4617720"/>
            <a:ext cx="3200400" cy="1188720"/>
          </a:xfrm>
          <a:prstGeom prst="rect">
            <a:avLst/>
          </a:prstGeom>
          <a:noFill/>
          <a:ln/>
        </p:spPr>
        <p:txBody>
          <a:bodyPr wrap="square" lIns="0" tIns="0" rIns="0" bIns="0" rtlCol="0" anchor="t"/>
          <a:lstStyle/>
          <a:p>
            <a:pPr indent="0" marL="0">
              <a:buNone/>
            </a:pPr>
            <a:r>
              <a:rPr lang="en-US" sz="1400" dirty="0">
                <a:solidFill>
                  <a:schemeClr val="bg1"/>
                </a:solidFill>
              </a:rPr>
              <a:t>i året for treninger på de åpne banene for barn fra 5 til 13 år, utstyr inkludert</a:t>
            </a:r>
            <a:endParaRPr lang="en-US" sz="1400" dirty="0"/>
          </a:p>
        </p:txBody>
      </p:sp>
      <p:pic>
        <p:nvPicPr>
          <p:cNvPr id="11" name="Bilde akademi-04" descr="En av akademiets baner">    </p:cNvPr>
          <p:cNvPicPr>
            <a:picLocks noChangeAspect="1"/>
          </p:cNvPicPr>
          <p:nvPr/>
        </p:nvPicPr>
        <p:blipFill>
          <a:blip r:embed="rId1"/>
          <a:stretch>
            <a:fillRect/>
          </a:stretch>
        </p:blipFill>
        <p:spPr>
          <a:xfrm>
            <a:off x="8092440" y="1325880"/>
            <a:ext cx="3154680" cy="4206240"/>
          </a:xfrm>
          <a:prstGeom prst="rect">
            <a:avLst/>
          </a:prstGeom>
        </p:spPr>
      </p:pic>
      <p:sp>
        <p:nvSpPr>
          <p:cNvPr id="12" name="Bildetekst akademi-04"/>
          <p:cNvSpPr txBox="1"/>
          <p:nvPr/>
        </p:nvSpPr>
        <p:spPr>
          <a:xfrm>
            <a:off x="8092440" y="5641848"/>
            <a:ext cx="3154680" cy="457200"/>
          </a:xfrm>
          <a:prstGeom prst="rect">
            <a:avLst/>
          </a:prstGeom>
          <a:noFill/>
          <a:ln/>
        </p:spPr>
        <p:txBody>
          <a:bodyPr wrap="square" lIns="0" tIns="0" rIns="0" bIns="0" rtlCol="0" anchor="t"/>
          <a:lstStyle/>
          <a:p>
            <a:pPr indent="0" marL="0">
              <a:buNone/>
            </a:pPr>
            <a:r>
              <a:rPr lang="en-US" sz="1100" dirty="0">
                <a:solidFill>
                  <a:schemeClr val="bg2"/>
                </a:solidFill>
              </a:rPr>
              <a:t>En av akademiets baner</a:t>
            </a:r>
            <a:endParaRPr lang="en-US" sz="11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Rekruttering og ledelse</a:t>
            </a:r>
            <a:endParaRPr lang="en-US" sz="3200" dirty="0"/>
          </a:p>
        </p:txBody>
      </p:sp>
      <p:sp>
        <p:nvSpPr>
          <p:cNvPr id="3" name="Punkter"/>
          <p:cNvSpPr txBox="1"/>
          <p:nvPr/>
        </p:nvSpPr>
        <p:spPr>
          <a:xfrm>
            <a:off x="685800" y="160020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Tar bare inn marokkanske spillere, men henter gjerne spillere med rett til marokkansk pass fra hele verden.</a:t>
            </a:r>
            <a:endParaRPr lang="en-US" sz="1600" dirty="0"/>
          </a:p>
          <a:p>
            <a:pPr marL="228600" indent="-228600">
              <a:spcAft>
                <a:spcPts val="1000"/>
              </a:spcAft>
              <a:buSzPct val="100000"/>
              <a:buChar char="•"/>
            </a:pPr>
            <a:r>
              <a:rPr lang="en-US" sz="1600" dirty="0">
                <a:solidFill>
                  <a:schemeClr val="bg1"/>
                </a:solidFill>
              </a:rPr>
              <a:t>Noen har vokst opp så langt nord som Nederland og flytter dit allerede som 12–13-åringer.</a:t>
            </a:r>
            <a:endParaRPr lang="en-US" sz="1600" dirty="0"/>
          </a:p>
          <a:p>
            <a:pPr marL="228600" indent="-228600">
              <a:spcAft>
                <a:spcPts val="1000"/>
              </a:spcAft>
              <a:buSzPct val="100000"/>
              <a:buChar char="•"/>
            </a:pPr>
            <a:r>
              <a:rPr lang="en-US" sz="1600" dirty="0">
                <a:solidFill>
                  <a:schemeClr val="bg1"/>
                </a:solidFill>
              </a:rPr>
              <a:t>Spillerne blir minst tre år. Det gir kontinuitet, men skyldes i stor grad FIFAs regler for klubbutviklede spillere.</a:t>
            </a:r>
            <a:endParaRPr lang="en-US" sz="1600" dirty="0"/>
          </a:p>
          <a:p>
            <a:pPr marL="228600" indent="-228600">
              <a:spcAft>
                <a:spcPts val="1000"/>
              </a:spcAft>
              <a:buSzPct val="100000"/>
              <a:buChar char="•"/>
            </a:pPr>
            <a:r>
              <a:rPr lang="en-US" sz="1600" dirty="0">
                <a:solidFill>
                  <a:schemeClr val="bg1"/>
                </a:solidFill>
              </a:rPr>
              <a:t>Det virker ikke spesielt økonomisk motivert.</a:t>
            </a:r>
            <a:endParaRPr lang="en-US" sz="1600" dirty="0"/>
          </a:p>
          <a:p>
            <a:pPr marL="228600" indent="-228600">
              <a:spcAft>
                <a:spcPts val="1000"/>
              </a:spcAft>
              <a:buSzPct val="100000"/>
              <a:buChar char="•"/>
            </a:pPr>
            <a:r>
              <a:rPr lang="en-US" sz="1600" dirty="0">
                <a:solidFill>
                  <a:schemeClr val="bg1"/>
                </a:solidFill>
              </a:rPr>
              <a:t>De fleste ansatte er marokkanske, men teknisk direktør rekrutteres fra Europa: Tozé Pereira kom fra Braga i år, forgjengeren var fra Ajax.</a:t>
            </a:r>
            <a:endParaRPr lang="en-US" sz="1600" dirty="0"/>
          </a:p>
        </p:txBody>
      </p:sp>
      <p:pic>
        <p:nvPicPr>
          <p:cNvPr id="4" name="Bilde akademi-07" descr="Rom der spillerne bor">    </p:cNvPr>
          <p:cNvPicPr>
            <a:picLocks noChangeAspect="1"/>
          </p:cNvPicPr>
          <p:nvPr/>
        </p:nvPicPr>
        <p:blipFill>
          <a:blip r:embed="rId1"/>
          <a:stretch>
            <a:fillRect/>
          </a:stretch>
        </p:blipFill>
        <p:spPr>
          <a:xfrm>
            <a:off x="8092440" y="1325880"/>
            <a:ext cx="3154680" cy="4206240"/>
          </a:xfrm>
          <a:prstGeom prst="rect">
            <a:avLst/>
          </a:prstGeom>
        </p:spPr>
      </p:pic>
      <p:sp>
        <p:nvSpPr>
          <p:cNvPr id="5" name="Bildetekst akademi-07"/>
          <p:cNvSpPr txBox="1"/>
          <p:nvPr/>
        </p:nvSpPr>
        <p:spPr>
          <a:xfrm>
            <a:off x="8092440" y="5641848"/>
            <a:ext cx="3154680" cy="457200"/>
          </a:xfrm>
          <a:prstGeom prst="rect">
            <a:avLst/>
          </a:prstGeom>
          <a:noFill/>
          <a:ln/>
        </p:spPr>
        <p:txBody>
          <a:bodyPr wrap="square" lIns="0" tIns="0" rIns="0" bIns="0" rtlCol="0" anchor="t"/>
          <a:lstStyle/>
          <a:p>
            <a:pPr indent="0" marL="0">
              <a:buNone/>
            </a:pPr>
            <a:r>
              <a:rPr lang="en-US" sz="1100" dirty="0">
                <a:solidFill>
                  <a:schemeClr val="bg2"/>
                </a:solidFill>
              </a:rPr>
              <a:t>Rom der spillerne bor</a:t>
            </a:r>
            <a:endParaRPr lang="en-US" sz="11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ef Ruqaa" pitchFamily="34" charset="0"/>
                <a:ea typeface="Aref Ruqaa" pitchFamily="34" charset="-122"/>
                <a:cs typeface="Aref Ruqaa" pitchFamily="34" charset="-120"/>
              </a:rPr>
              <a:t>Fra akademiet</a:t>
            </a:r>
            <a:endParaRPr lang="en-US" sz="3200" dirty="0"/>
          </a:p>
        </p:txBody>
      </p:sp>
      <p:pic>
        <p:nvPicPr>
          <p:cNvPr id="3" name="Bilde akademi-02" descr="Gangvei gjennom anlegget">    </p:cNvPr>
          <p:cNvPicPr>
            <a:picLocks noChangeAspect="1"/>
          </p:cNvPicPr>
          <p:nvPr/>
        </p:nvPicPr>
        <p:blipFill>
          <a:blip r:embed="rId1"/>
          <a:stretch>
            <a:fillRect/>
          </a:stretch>
        </p:blipFill>
        <p:spPr>
          <a:xfrm>
            <a:off x="960120" y="1417320"/>
            <a:ext cx="2377440" cy="3169920"/>
          </a:xfrm>
          <a:prstGeom prst="rect">
            <a:avLst/>
          </a:prstGeom>
        </p:spPr>
      </p:pic>
      <p:sp>
        <p:nvSpPr>
          <p:cNvPr id="4" name="Bildetekst akademi-02"/>
          <p:cNvSpPr txBox="1"/>
          <p:nvPr/>
        </p:nvSpPr>
        <p:spPr>
          <a:xfrm>
            <a:off x="9601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Gangvei gjennom anlegget</a:t>
            </a:r>
            <a:endParaRPr lang="en-US" sz="1100" dirty="0"/>
          </a:p>
        </p:txBody>
      </p:sp>
      <p:pic>
        <p:nvPicPr>
          <p:cNvPr id="5" name="Bilde akademi-03" descr="Overdekket passasje">    </p:cNvPr>
          <p:cNvPicPr>
            <a:picLocks noChangeAspect="1"/>
          </p:cNvPicPr>
          <p:nvPr/>
        </p:nvPicPr>
        <p:blipFill>
          <a:blip r:embed="rId2"/>
          <a:stretch>
            <a:fillRect/>
          </a:stretch>
        </p:blipFill>
        <p:spPr>
          <a:xfrm>
            <a:off x="3703320" y="1417320"/>
            <a:ext cx="2377440" cy="3169920"/>
          </a:xfrm>
          <a:prstGeom prst="rect">
            <a:avLst/>
          </a:prstGeom>
        </p:spPr>
      </p:pic>
      <p:sp>
        <p:nvSpPr>
          <p:cNvPr id="6" name="Bildetekst akademi-03"/>
          <p:cNvSpPr txBox="1"/>
          <p:nvPr/>
        </p:nvSpPr>
        <p:spPr>
          <a:xfrm>
            <a:off x="37033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Overdekket passasje</a:t>
            </a:r>
            <a:endParaRPr lang="en-US" sz="1100" dirty="0"/>
          </a:p>
        </p:txBody>
      </p:sp>
      <p:pic>
        <p:nvPicPr>
          <p:cNvPr id="7" name="Bilde akademi-06" descr="Benker ved banen">    </p:cNvPr>
          <p:cNvPicPr>
            <a:picLocks noChangeAspect="1"/>
          </p:cNvPicPr>
          <p:nvPr/>
        </p:nvPicPr>
        <p:blipFill>
          <a:blip r:embed="rId3"/>
          <a:stretch>
            <a:fillRect/>
          </a:stretch>
        </p:blipFill>
        <p:spPr>
          <a:xfrm>
            <a:off x="6446520" y="1417320"/>
            <a:ext cx="2377440" cy="3169920"/>
          </a:xfrm>
          <a:prstGeom prst="rect">
            <a:avLst/>
          </a:prstGeom>
        </p:spPr>
      </p:pic>
      <p:sp>
        <p:nvSpPr>
          <p:cNvPr id="8" name="Bildetekst akademi-06"/>
          <p:cNvSpPr txBox="1"/>
          <p:nvPr/>
        </p:nvSpPr>
        <p:spPr>
          <a:xfrm>
            <a:off x="64465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Benker ved banen</a:t>
            </a:r>
            <a:endParaRPr lang="en-US" sz="1100" dirty="0"/>
          </a:p>
        </p:txBody>
      </p:sp>
      <p:pic>
        <p:nvPicPr>
          <p:cNvPr id="9" name="Bilde akademi-05" descr="Treningsrom mot banene">    </p:cNvPr>
          <p:cNvPicPr>
            <a:picLocks noChangeAspect="1"/>
          </p:cNvPicPr>
          <p:nvPr/>
        </p:nvPicPr>
        <p:blipFill>
          <a:blip r:embed="rId4"/>
          <a:stretch>
            <a:fillRect/>
          </a:stretch>
        </p:blipFill>
        <p:spPr>
          <a:xfrm>
            <a:off x="9189720" y="1417320"/>
            <a:ext cx="2377440" cy="3169920"/>
          </a:xfrm>
          <a:prstGeom prst="rect">
            <a:avLst/>
          </a:prstGeom>
        </p:spPr>
      </p:pic>
      <p:sp>
        <p:nvSpPr>
          <p:cNvPr id="10" name="Bildetekst akademi-05"/>
          <p:cNvSpPr txBox="1"/>
          <p:nvPr/>
        </p:nvSpPr>
        <p:spPr>
          <a:xfrm>
            <a:off x="9189720" y="4696968"/>
            <a:ext cx="2377440" cy="457200"/>
          </a:xfrm>
          <a:prstGeom prst="rect">
            <a:avLst/>
          </a:prstGeom>
          <a:noFill/>
          <a:ln/>
        </p:spPr>
        <p:txBody>
          <a:bodyPr wrap="square" lIns="0" tIns="0" rIns="0" bIns="0" rtlCol="0" anchor="t"/>
          <a:lstStyle/>
          <a:p>
            <a:pPr indent="0" marL="0">
              <a:buNone/>
            </a:pPr>
            <a:r>
              <a:rPr lang="en-US" sz="1100" dirty="0">
                <a:solidFill>
                  <a:schemeClr val="bg2"/>
                </a:solidFill>
              </a:rPr>
              <a:t>Treningsrom mot banene</a:t>
            </a:r>
            <a:endParaRPr lang="en-US" sz="1100" dirty="0"/>
          </a:p>
        </p:txBody>
      </p:sp>
      <p:sp>
        <p:nvSpPr>
          <p:cNvPr id="25" name="Slide Number Placeholder 0"/>
          <p:cNvSpPr>
            <a:spLocks noGrp="1"/>
          </p:cNvSpPr>
          <p:nvPr>
            <p:ph type="sldNum" sz="quarter" idx="4294967295"/>
          </p:nvPr>
        </p:nvSpPr>
        <p:spPr>
          <a:xfrm>
            <a:off x="26517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Globus" descr="Globus med linjer fra Marokko til Norge">    </p:cNvPr>
          <p:cNvPicPr>
            <a:picLocks noChangeAspect="1"/>
          </p:cNvPicPr>
          <p:nvPr/>
        </p:nvPicPr>
        <p:blipFill>
          <a:blip r:embed="rId1"/>
          <a:stretch>
            <a:fillRect/>
          </a:stretch>
        </p:blipFill>
        <p:spPr>
          <a:xfrm>
            <a:off x="0" y="0"/>
            <a:ext cx="12191695" cy="6858000"/>
          </a:xfrm>
          <a:prstGeom prst="rect">
            <a:avLst/>
          </a:prstGeom>
        </p:spPr>
      </p:pic>
      <p:pic>
        <p:nvPicPr>
          <p:cNvPr id="3" name="Flaggstjerne" descr="Stjernen fra Marokkos flagg">    </p:cNvPr>
          <p:cNvPicPr>
            <a:picLocks noChangeAspect="1"/>
          </p:cNvPicPr>
          <p:nvPr/>
        </p:nvPicPr>
        <p:blipFill>
          <a:blip r:embed="rId2"/>
          <a:stretch>
            <a:fillRect/>
          </a:stretch>
        </p:blipFill>
        <p:spPr>
          <a:xfrm>
            <a:off x="5730088" y="1143000"/>
            <a:ext cx="731520" cy="696163"/>
          </a:xfrm>
          <a:prstGeom prst="rect">
            <a:avLst/>
          </a:prstGeom>
        </p:spPr>
      </p:pic>
      <p:sp>
        <p:nvSpPr>
          <p:cNvPr id="4" name="Avslutning"/>
          <p:cNvSpPr txBox="1"/>
          <p:nvPr/>
        </p:nvSpPr>
        <p:spPr>
          <a:xfrm>
            <a:off x="1371600" y="2103120"/>
            <a:ext cx="9448495" cy="822960"/>
          </a:xfrm>
          <a:prstGeom prst="rect">
            <a:avLst/>
          </a:prstGeom>
          <a:noFill/>
          <a:ln/>
        </p:spPr>
        <p:txBody>
          <a:bodyPr wrap="square" lIns="0" tIns="0" rIns="0" bIns="0" rtlCol="0" anchor="ctr"/>
          <a:lstStyle/>
          <a:p>
            <a:pPr algn="ctr" indent="0" marL="0">
              <a:buNone/>
            </a:pPr>
            <a:r>
              <a:rPr lang="en-US" sz="3600" b="1" dirty="0">
                <a:solidFill>
                  <a:srgbClr val="FFF8EE"/>
                </a:solidFill>
                <a:latin typeface="Aref Ruqaa" pitchFamily="34" charset="0"/>
                <a:ea typeface="Aref Ruqaa" pitchFamily="34" charset="-122"/>
                <a:cs typeface="Aref Ruqaa" pitchFamily="34" charset="-120"/>
              </a:rPr>
              <a:t>Referanser fra marokkansk fotball</a:t>
            </a:r>
            <a:endParaRPr lang="en-US" sz="3600" dirty="0"/>
          </a:p>
        </p:txBody>
      </p:sp>
      <p:sp>
        <p:nvSpPr>
          <p:cNvPr id="5" name="Undertittel"/>
          <p:cNvSpPr txBox="1"/>
          <p:nvPr/>
        </p:nvSpPr>
        <p:spPr>
          <a:xfrm>
            <a:off x="1371600" y="2880360"/>
            <a:ext cx="9448495" cy="457200"/>
          </a:xfrm>
          <a:prstGeom prst="rect">
            <a:avLst/>
          </a:prstGeom>
          <a:noFill/>
          <a:ln/>
        </p:spPr>
        <p:txBody>
          <a:bodyPr wrap="square" lIns="0" tIns="0" rIns="0" bIns="0" rtlCol="0" anchor="ctr"/>
          <a:lstStyle/>
          <a:p>
            <a:pPr algn="ctr" indent="0" marL="0">
              <a:buNone/>
            </a:pPr>
            <a:r>
              <a:rPr lang="en-US" sz="2000" dirty="0">
                <a:solidFill>
                  <a:srgbClr val="FFF8EE">
                    <a:alpha val="82000"/>
                  </a:srgbClr>
                </a:solidFill>
                <a:latin typeface="Aref Ruqaa" pitchFamily="34" charset="0"/>
                <a:ea typeface="Aref Ruqaa" pitchFamily="34" charset="-122"/>
                <a:cs typeface="Aref Ruqaa" pitchFamily="34" charset="-120"/>
              </a:rPr>
              <a:t>Rabat Rapport</a:t>
            </a:r>
            <a:endParaRPr lang="en-US" sz="2000" dirty="0"/>
          </a:p>
        </p:txBody>
      </p:sp>
    </p:spTree>
  </p:cSld>
  <p:clrMapOvr>
    <a:masterClrMapping/>
  </p:clrMapOvr>
</p:sld>
</file>

<file path=ppt/theme/theme1.xml><?xml version="1.0" encoding="utf-8"?>
<a:theme xmlns:a="http://schemas.openxmlformats.org/drawingml/2006/main" name="Rabat Rapport">
  <a:themeElements>
    <a:clrScheme name="Rabat Rapport">
      <a:dk1>
        <a:srgbClr val="1E0B0D"/>
      </a:dk1>
      <a:lt1>
        <a:srgbClr val="F7F1E8"/>
      </a:lt1>
      <a:dk2>
        <a:srgbClr val="2A1114"/>
      </a:dk2>
      <a:lt2>
        <a:srgbClr val="CDBFB5"/>
      </a:lt2>
      <a:accent1>
        <a:srgbClr val="E3C15A"/>
      </a:accent1>
      <a:accent2>
        <a:srgbClr val="4CC38A"/>
      </a:accent2>
      <a:accent3>
        <a:srgbClr val="C1262D"/>
      </a:accent3>
      <a:accent4>
        <a:srgbClr val="006233"/>
      </a:accent4>
      <a:accent5>
        <a:srgbClr val="3A161A"/>
      </a:accent5>
      <a:accent6>
        <a:srgbClr val="8E7A70"/>
      </a:accent6>
      <a:hlink>
        <a:srgbClr val="4CC38A"/>
      </a:hlink>
      <a:folHlink>
        <a:srgbClr val="E3C15A"/>
      </a:folHlink>
    </a:clrScheme>
    <a:fontScheme name="Rabat Rapport">
      <a:majorFont>
        <a:latin typeface="Aref Ruqa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Rabat Rapport</dc:title>
  <dc:subject>Referanser fra marokkansk fotball</dc:subject>
  <dc:creator>PptxGenJS</dc:creator>
  <cp:lastModifiedBy>PptxGenJS</cp:lastModifiedBy>
  <cp:revision>1</cp:revision>
  <dcterms:created xsi:type="dcterms:W3CDTF">2026-10-29T15:56:41Z</dcterms:created>
  <dcterms:modified xsi:type="dcterms:W3CDTF">2026-10-29T15:56:41Z</dcterms:modified>
</cp:coreProperties>
</file>